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463040"/>
            <a:ext cx="4754880" cy="4754880"/>
          </a:xfrm>
          <a:prstGeom prst="ellipse">
            <a:avLst/>
          </a:prstGeom>
          <a:solidFill>
            <a:srgbClr val="1565A8">
              <a:alpha val="12000"/>
            </a:srgbClr>
          </a:solidFill>
          <a:ln w="12700">
            <a:solidFill>
              <a:srgbClr val="1565A8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548640"/>
            <a:ext cx="2926080" cy="2926080"/>
          </a:xfrm>
          <a:prstGeom prst="ellipse">
            <a:avLst/>
          </a:prstGeom>
          <a:solidFill>
            <a:srgbClr val="4E9FD8">
              <a:alpha val="10000"/>
            </a:srgbClr>
          </a:solidFill>
          <a:ln w="12700">
            <a:solidFill>
              <a:srgbClr val="4E9FD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50292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JOBS AND ECONOMIC GROWTH  ·  ECONOMIC STRATEGY BRANCH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58368" y="91440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Insights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58368" y="1783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600" dirty="0"/>
          </a:p>
        </p:txBody>
      </p:sp>
      <p:sp>
        <p:nvSpPr>
          <p:cNvPr id="8" name="Shape 6"/>
          <p:cNvSpPr/>
          <p:nvPr/>
        </p:nvSpPr>
        <p:spPr>
          <a:xfrm>
            <a:off x="658368" y="2834640"/>
            <a:ext cx="1737360" cy="36576"/>
          </a:xfrm>
          <a:prstGeom prst="rect">
            <a:avLst/>
          </a:prstGeom>
          <a:solidFill>
            <a:srgbClr val="4E9FD8"/>
          </a:solidFill>
          <a:ln w="12700">
            <a:solidFill>
              <a:srgbClr val="4E9F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 ·  April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34015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E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BC's strategic economic decisions — end to end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Hub. Four Strategic Views.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56032" y="106984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 Dashboard Hub consolidates economic intelligence into one executive-ready interface — no spreadsheet hunting, no context-switching.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645920"/>
            <a:ext cx="193852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645920"/>
            <a:ext cx="1938528" cy="256032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965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907792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entry point to all BC economic dashboards — sector cards, live status, and direct navigation.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54580" y="1645920"/>
            <a:ext cx="193852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4580" y="1645920"/>
            <a:ext cx="1938528" cy="2560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2596" y="1965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82596" y="24505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Macroeconomy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82596" y="2907792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provincial indicators: GDP, employment, trade flows, and sector contributions from Statistics Canada.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53128" y="1645920"/>
            <a:ext cx="193852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53128" y="1645920"/>
            <a:ext cx="1938528" cy="256032"/>
          </a:xfrm>
          <a:prstGeom prst="rect">
            <a:avLst/>
          </a:prstGeom>
          <a:solidFill>
            <a:srgbClr val="4E9FD8"/>
          </a:solidFill>
          <a:ln w="12700">
            <a:solidFill>
              <a:srgbClr val="4E9F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1144" y="1965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E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581144" y="24505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West Strategy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81144" y="2907792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strategy tracker: media coverage, funding &amp; investments, policy &amp; regulations in one view.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51676" y="1645920"/>
            <a:ext cx="1938528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1676" y="1645920"/>
            <a:ext cx="1938528" cy="25603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9692" y="1965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79692" y="245059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Intelligence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9692" y="2907792"/>
            <a:ext cx="17007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dedicated sector dashboards covering Life Sciences, Aerospace, Maritime, AI, Tourism and more.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Macroeconomy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56032" y="106984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view of British Columbia's economic health, auto-refreshed from Statistics Canada and primary sources.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828800"/>
            <a:ext cx="118872" cy="11887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&amp; Growth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Provincial output and sector-level contributions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2468880"/>
            <a:ext cx="118872" cy="11887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force, unemployment rate, sector breakdown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3108960"/>
            <a:ext cx="118872" cy="11887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Flows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Exports, imports, and Indo-Pacific market metrics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749040"/>
            <a:ext cx="118872" cy="11887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Feed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refresh from Statistics Canada APIs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1078992"/>
            <a:ext cx="4251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078992"/>
            <a:ext cx="64008" cy="9601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117043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818888" y="1664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StatsCan Connection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18888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Auto-refreshed economic indicators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295144"/>
            <a:ext cx="4251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17720" y="2295144"/>
            <a:ext cx="64008" cy="9601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38658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4818888" y="28803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 Groups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30723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· Trade · Employment · Sector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3511296"/>
            <a:ext cx="42519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3511296"/>
            <a:ext cx="64008" cy="96012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60273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818888" y="409651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0" kern="0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Refresh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42885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"Update Data" refreshes all charts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  —  FLAGSHIP TRACKER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West Strategy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56032" y="106984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visibility into BC's strategic trade and economic agenda — three live data streams, one unified view, organized across 4 Look West Pillars.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591056"/>
            <a:ext cx="2724912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591056"/>
            <a:ext cx="2724912" cy="256032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92024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Coverage Tracker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" y="23957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BC government and media mentions across multiple news sources. Categorized by Look West pillar, theme, and source type.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3913632"/>
            <a:ext cx="2450592" cy="274320"/>
          </a:xfrm>
          <a:prstGeom prst="rect">
            <a:avLst/>
          </a:prstGeom>
          <a:solidFill>
            <a:srgbClr val="0B4F8A">
              <a:alpha val="12000"/>
            </a:srgbClr>
          </a:solidFill>
          <a:ln w="9525">
            <a:solidFill>
              <a:srgbClr val="0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3913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Gov · Federal · Industry · Other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1591056"/>
            <a:ext cx="2724912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91056"/>
            <a:ext cx="2724912" cy="256032"/>
          </a:xfrm>
          <a:prstGeom prst="rect">
            <a:avLst/>
          </a:prstGeom>
          <a:solidFill>
            <a:srgbClr val="1F7A4D"/>
          </a:solidFill>
          <a:ln w="12700">
            <a:solidFill>
              <a:srgbClr val="1F7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92024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Investments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23957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funding announcement with breakdowns by provincial commitment, investment attracted to BC, federal, and other sources.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91840" y="3913632"/>
            <a:ext cx="2450592" cy="274320"/>
          </a:xfrm>
          <a:prstGeom prst="rect">
            <a:avLst/>
          </a:prstGeom>
          <a:solidFill>
            <a:srgbClr val="1F7A4D">
              <a:alpha val="12000"/>
            </a:srgbClr>
          </a:solidFill>
          <a:ln w="9525">
            <a:solidFill>
              <a:srgbClr val="1F7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913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 totals · Jobs created · By region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53328" y="1591056"/>
            <a:ext cx="2724912" cy="2816352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1591056"/>
            <a:ext cx="2724912" cy="256032"/>
          </a:xfrm>
          <a:prstGeom prst="rect">
            <a:avLst/>
          </a:prstGeom>
          <a:solidFill>
            <a:srgbClr val="1565A8"/>
          </a:solidFill>
          <a:ln w="12700">
            <a:solidFill>
              <a:srgbClr val="1565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1920240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Regulations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190488" y="2395728"/>
            <a:ext cx="245059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regulatory and policy changes by jurisdiction and Look West sector, mapped to LW Outcome Areas with source links.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90488" y="3913632"/>
            <a:ext cx="2450592" cy="274320"/>
          </a:xfrm>
          <a:prstGeom prst="rect">
            <a:avLst/>
          </a:prstGeom>
          <a:solidFill>
            <a:srgbClr val="1565A8">
              <a:alpha val="12000"/>
            </a:srgbClr>
          </a:solidFill>
          <a:ln w="9525">
            <a:solidFill>
              <a:srgbClr val="156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3913632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jurisdiction · By policy type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56032" y="46085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by pillar · theme · region · funding source  ·  Includes aggregate investment charts with show/hide toggle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3 – 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Intelligence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56032" y="114300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61872" y="117043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Dashboards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61872" y="157276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sector has its own dedicated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a consistent structure.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" y="236829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2286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— key sector metrics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" y="277977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97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investment charts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" y="319125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3108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tracker with RAG status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60273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5204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risk register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" y="4014216"/>
            <a:ext cx="137160" cy="13716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9319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West goal progress tracker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36592" y="1143000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1143000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11430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57416" y="1143000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57416" y="1143000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14300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36592" y="1709928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1709928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7099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57416" y="1709928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57416" y="1709928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09928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Quantum Computing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36592" y="2276856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36592" y="2276856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276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57416" y="2276856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57416" y="2276856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2276856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36592" y="2843784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2843784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82896" y="284378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57416" y="2843784"/>
            <a:ext cx="187452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757416" y="2843784"/>
            <a:ext cx="64008" cy="402336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2843784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&amp; Logistics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36592" y="3410712"/>
            <a:ext cx="3895344" cy="402336"/>
          </a:xfrm>
          <a:prstGeom prst="rect">
            <a:avLst/>
          </a:prstGeom>
          <a:solidFill>
            <a:srgbClr val="EEF3FA"/>
          </a:solidFill>
          <a:ln w="9525">
            <a:solidFill>
              <a:srgbClr val="D7E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341071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Future Sector  (placeholder ready)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16459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256032" y="3840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C2A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Lightweight. Portable. Maintainable.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256032" y="1069848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infrastructure. No external servers. Runs on any Windows laptop — ready for distribution today.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1645920"/>
            <a:ext cx="27249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84048" y="1737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84048" y="2432304"/>
            <a:ext cx="2468880" cy="27432"/>
          </a:xfrm>
          <a:prstGeom prst="rect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542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9992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lives in .xlsx workbooks. Familiar, maintainable, and editable by any analyst — no technical skills required.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80944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54680" y="1645920"/>
            <a:ext cx="27249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82696" y="1737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Shape 12"/>
          <p:cNvSpPr/>
          <p:nvPr/>
        </p:nvSpPr>
        <p:spPr>
          <a:xfrm>
            <a:off x="3282696" y="2432304"/>
            <a:ext cx="2468880" cy="27432"/>
          </a:xfrm>
          <a:prstGeom prst="rect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2542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Python Server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82696" y="29992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starts a lightweight server. Non-technical users launch via BC_Dashboard_App.bat — one double-click.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79592" y="26517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053328" y="1645920"/>
            <a:ext cx="2724912" cy="257860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0" dist="25400" dir="8100000">
              <a:srgbClr val="0B2744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81344" y="173736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Shape 18"/>
          <p:cNvSpPr/>
          <p:nvPr/>
        </p:nvSpPr>
        <p:spPr>
          <a:xfrm>
            <a:off x="6181344" y="2432304"/>
            <a:ext cx="2468880" cy="27432"/>
          </a:xfrm>
          <a:prstGeom prst="rect">
            <a:avLst/>
          </a:prstGeom>
          <a:solidFill>
            <a:srgbClr val="D7E0EA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542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6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HTML Dashboards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81344" y="2999232"/>
            <a:ext cx="24688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Chart.js-powered interactive dashboards load in any browser — charts, filters, KPI cards all live and responsive.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" y="4443984"/>
            <a:ext cx="8412480" cy="329184"/>
          </a:xfrm>
          <a:prstGeom prst="rect">
            <a:avLst/>
          </a:prstGeom>
          <a:solidFill>
            <a:srgbClr val="0B4F8A">
              <a:alpha val="8000"/>
            </a:srgbClr>
          </a:solidFill>
          <a:ln w="6350">
            <a:solidFill>
              <a:srgbClr val="BDD7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44398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as BCLS_Dashboard_App.zip  ·  Installable on any Windows machine  ·  No cloud dependency  ·  No IT ticket required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188720"/>
            <a:ext cx="4389120" cy="4389120"/>
          </a:xfrm>
          <a:prstGeom prst="ellipse">
            <a:avLst/>
          </a:prstGeom>
          <a:solidFill>
            <a:srgbClr val="1565A8">
              <a:alpha val="13000"/>
            </a:srgbClr>
          </a:solidFill>
          <a:ln w="12700">
            <a:solidFill>
              <a:srgbClr val="1565A8">
                <a:alpha val="1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274320"/>
            <a:ext cx="2560320" cy="2560320"/>
          </a:xfrm>
          <a:prstGeom prst="ellipse">
            <a:avLst/>
          </a:prstGeom>
          <a:solidFill>
            <a:srgbClr val="4E9FD8">
              <a:alpha val="9000"/>
            </a:srgbClr>
          </a:solidFill>
          <a:ln w="12700">
            <a:solidFill>
              <a:srgbClr val="4E9FD8">
                <a:alpha val="9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85800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377440" cy="36576"/>
          </a:xfrm>
          <a:prstGeom prst="rect">
            <a:avLst/>
          </a:prstGeom>
          <a:solidFill>
            <a:srgbClr val="4E9FD8"/>
          </a:solidFill>
          <a:ln w="12700">
            <a:solidFill>
              <a:srgbClr val="4E9F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11680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explore the dashboard together.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5486400" cy="1298448"/>
          </a:xfrm>
          <a:prstGeom prst="rect">
            <a:avLst/>
          </a:prstGeom>
          <a:solidFill>
            <a:srgbClr val="0B4F8A">
              <a:alpha val="22000"/>
            </a:srgbClr>
          </a:solidFill>
          <a:ln w="9525">
            <a:solidFill>
              <a:srgbClr val="1565A8"/>
            </a:solidFill>
            <a:prstDash val="solid"/>
          </a:ln>
          <a:effectLst>
            <a:outerShdw sx="100000" sy="100000" kx="0" ky="0" algn="bl" rotWithShape="0" blurRad="203200" dist="38100" dir="8100000">
              <a:srgbClr val="0B274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41248" y="285292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50" kern="0" dirty="0">
                <a:solidFill>
                  <a:srgbClr val="4E9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41248" y="3127248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integrated platform supporting Look West Strategy tracking end-to-end — from media mentions to funding announcements to policy shifts. All in one place.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4114800"/>
            <a:ext cx="1883664" cy="347472"/>
          </a:xfrm>
          <a:prstGeom prst="rect">
            <a:avLst/>
          </a:prstGeom>
          <a:solidFill>
            <a:srgbClr val="0B4F8A">
              <a:alpha val="20000"/>
            </a:srgbClr>
          </a:solidFill>
          <a:ln w="6350">
            <a:solidFill>
              <a:srgbClr val="1565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411480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Hub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70048" y="4114800"/>
            <a:ext cx="1883664" cy="347472"/>
          </a:xfrm>
          <a:prstGeom prst="rect">
            <a:avLst/>
          </a:prstGeom>
          <a:solidFill>
            <a:srgbClr val="0B4F8A">
              <a:alpha val="20000"/>
            </a:srgbClr>
          </a:solidFill>
          <a:ln w="6350">
            <a:solidFill>
              <a:srgbClr val="1565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411480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Macroeconomy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81728" y="4114800"/>
            <a:ext cx="1883664" cy="347472"/>
          </a:xfrm>
          <a:prstGeom prst="rect">
            <a:avLst/>
          </a:prstGeom>
          <a:solidFill>
            <a:srgbClr val="0B4F8A">
              <a:alpha val="20000"/>
            </a:srgbClr>
          </a:solidFill>
          <a:ln w="6350">
            <a:solidFill>
              <a:srgbClr val="1565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411480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West Strategy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93408" y="4114800"/>
            <a:ext cx="1883664" cy="347472"/>
          </a:xfrm>
          <a:prstGeom prst="rect">
            <a:avLst/>
          </a:prstGeom>
          <a:solidFill>
            <a:srgbClr val="0B4F8A">
              <a:alpha val="20000"/>
            </a:srgbClr>
          </a:solidFill>
          <a:ln w="6350">
            <a:solidFill>
              <a:srgbClr val="1565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93408" y="4114800"/>
            <a:ext cx="1883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Sector Dashboards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58368" y="47183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F7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Dashboard Hub  ·  Ministry of Jobs and Economic Growth  ·  Economic Strategy Branch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 Insights Dashboard</dc:title>
  <dc:subject>Executive Overview</dc:subject>
  <dc:creator>Ministry of Jobs and Economic Growth</dc:creator>
  <cp:lastModifiedBy>Ministry of Jobs and Economic Growth</cp:lastModifiedBy>
  <cp:revision>1</cp:revision>
  <dcterms:created xsi:type="dcterms:W3CDTF">2026-04-10T16:34:26Z</dcterms:created>
  <dcterms:modified xsi:type="dcterms:W3CDTF">2026-04-10T16:34:26Z</dcterms:modified>
</cp:coreProperties>
</file>
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73152"/>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607040" cy="2468880"/>
          </a:xfrm>
          <a:prstGeom prst="rect">
            <a:avLst/>
          </a:prstGeom>
          <a:noFill/>
        </p:spPr>
        <p:txBody>
          <a:bodyPr wrap="square">
            <a:spAutoFit/>
          </a:bodyPr>
          <a:lstStyle/>
          <a:p>
            <a:pPr algn="l">
              <a:spcBef>
                <a:spcPts val="400"/>
              </a:spcBef>
              <a:spcAft>
                <a:spcPts val="600"/>
              </a:spcAft>
            </a:pPr>
            <a:r>
              <a:rPr sz="1500" b="1" i="0">
                <a:solidFill>
                  <a:srgbClr val="FCBA19"/>
                </a:solidFill>
                <a:latin typeface="Segoe UI"/>
              </a:rPr>
              <a:t>BC LOOK WEST MONITOR DASHBOARD</a:t>
            </a:r>
          </a:p>
          <a:p>
            <a:pPr algn="l">
              <a:spcBef>
                <a:spcPts val="400"/>
              </a:spcBef>
              <a:spcAft>
                <a:spcPts val="800"/>
              </a:spcAft>
            </a:pPr>
            <a:r>
              <a:rPr sz="3700" b="1" i="0">
                <a:solidFill>
                  <a:srgbClr val="FFFFFF"/>
                </a:solidFill>
                <a:latin typeface="Segoe UI"/>
              </a:rPr>
              <a:t>Outcomes Data Model</a:t>
            </a:r>
          </a:p>
          <a:p>
            <a:pPr algn="l">
              <a:spcBef>
                <a:spcPts val="400"/>
              </a:spcBef>
              <a:spcAft>
                <a:spcPts val="200"/>
              </a:spcAft>
            </a:pPr>
            <a:r>
              <a:rPr sz="1600" b="0" i="0">
                <a:solidFill>
                  <a:srgbClr val="C8D6E8"/>
                </a:solidFill>
                <a:latin typeface="Segoe UI"/>
              </a:rPr>
              <a:t>How the metrics we monitor drive B.C.'s economy toward the Look West strategy's committed targets.</a:t>
            </a:r>
          </a:p>
        </p:txBody>
      </p:sp>
      <p:sp>
        <p:nvSpPr>
          <p:cNvPr id="5" name="TextBox 4"/>
          <p:cNvSpPr txBox="1"/>
          <p:nvPr/>
        </p:nvSpPr>
        <p:spPr>
          <a:xfrm>
            <a:off x="822960" y="4572000"/>
            <a:ext cx="10607040" cy="1645920"/>
          </a:xfrm>
          <a:prstGeom prst="rect">
            <a:avLst/>
          </a:prstGeom>
          <a:noFill/>
        </p:spPr>
        <p:txBody>
          <a:bodyPr wrap="square">
            <a:spAutoFit/>
          </a:bodyPr>
          <a:lstStyle/>
          <a:p>
            <a:pPr algn="l">
              <a:spcBef>
                <a:spcPts val="400"/>
              </a:spcBef>
              <a:spcAft>
                <a:spcPts val="300"/>
              </a:spcAft>
            </a:pPr>
            <a:r>
              <a:rPr sz="1200" b="0" i="0">
                <a:solidFill>
                  <a:srgbClr val="AFC2D8"/>
                </a:solidFill>
                <a:latin typeface="Segoe UI"/>
              </a:rPr>
              <a:t>A results-chain (theory-of-change) model layered over short-, medium-, and long-term horizons.</a:t>
            </a:r>
          </a:p>
          <a:p>
            <a:pPr algn="l">
              <a:spcBef>
                <a:spcPts val="400"/>
              </a:spcBef>
              <a:spcAft>
                <a:spcPts val="300"/>
              </a:spcAft>
            </a:pPr>
            <a:r>
              <a:rPr sz="1200" b="0" i="0">
                <a:solidFill>
                  <a:srgbClr val="AFC2D8"/>
                </a:solidFill>
                <a:latin typeface="Segoe UI"/>
              </a:rPr>
              <a:t>Extends the dashboard's existing entities — Instruments → Trackers → Goals → Targets.</a:t>
            </a:r>
          </a:p>
          <a:p>
            <a:pPr algn="l">
              <a:spcBef>
                <a:spcPts val="400"/>
              </a:spcBef>
              <a:spcAft>
                <a:spcPts val="300"/>
              </a:spcAft>
            </a:pPr>
            <a:r>
              <a:rPr sz="1200" b="0" i="0">
                <a:solidFill>
                  <a:srgbClr val="AFC2D8"/>
                </a:solidFill>
                <a:latin typeface="Segoe UI"/>
              </a:rPr>
              <a:t>Ultimate targets sourced from the public Look West strategy (Province of B.C., 2025). See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ORIENTATION</a:t>
            </a:r>
          </a:p>
          <a:p>
            <a:pPr algn="l">
              <a:spcBef>
                <a:spcPts val="0"/>
              </a:spcBef>
              <a:spcAft>
                <a:spcPts val="200"/>
              </a:spcAft>
            </a:pPr>
            <a:r>
              <a:rPr sz="2200" b="1" i="0">
                <a:solidFill>
                  <a:srgbClr val="FFFFFF"/>
                </a:solidFill>
                <a:latin typeface="Segoe UI"/>
              </a:rPr>
              <a:t>What this model is — and how to read it</a:t>
            </a:r>
          </a:p>
        </p:txBody>
      </p:sp>
      <p:sp>
        <p:nvSpPr>
          <p:cNvPr id="5" name="TextBox 4"/>
          <p:cNvSpPr txBox="1"/>
          <p:nvPr/>
        </p:nvSpPr>
        <p:spPr>
          <a:xfrm>
            <a:off x="502920" y="1280160"/>
            <a:ext cx="61264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THE QUESTION IT ANSWERS</a:t>
            </a:r>
          </a:p>
          <a:p>
            <a:pPr algn="l">
              <a:spcBef>
                <a:spcPts val="400"/>
              </a:spcBef>
              <a:spcAft>
                <a:spcPts val="200"/>
              </a:spcAft>
            </a:pPr>
            <a:r>
              <a:rPr sz="1150" b="0" i="0">
                <a:solidFill>
                  <a:srgbClr val="1E293B"/>
                </a:solidFill>
                <a:latin typeface="Segoe UI"/>
              </a:rPr>
              <a:t>"How do the things we monitor on the dashboard actually move B.C.'s economy to the destination Look West committed to?" This model draws that line explicitly, end to end.</a:t>
            </a:r>
          </a:p>
          <a:p>
            <a:pPr algn="l">
              <a:spcBef>
                <a:spcPts val="1000"/>
              </a:spcBef>
              <a:spcAft>
                <a:spcPts val="200"/>
              </a:spcAft>
            </a:pPr>
            <a:r>
              <a:rPr sz="1250" b="1" i="0">
                <a:solidFill>
                  <a:srgbClr val="003366"/>
                </a:solidFill>
                <a:latin typeface="Segoe UI"/>
              </a:rPr>
              <a:t>THE SHAPE OF IT</a:t>
            </a:r>
          </a:p>
          <a:p>
            <a:pPr algn="l">
              <a:spcBef>
                <a:spcPts val="400"/>
              </a:spcBef>
              <a:spcAft>
                <a:spcPts val="200"/>
              </a:spcAft>
            </a:pPr>
            <a:r>
              <a:rPr sz="1150" b="0" i="0">
                <a:solidFill>
                  <a:srgbClr val="1E293B"/>
                </a:solidFill>
                <a:latin typeface="Segoe UI"/>
              </a:rPr>
              <a:t>A results chain in five layers: the levers government pulls → the outputs they produce → the outcomes we measure → the strategic targets → the ultimate Look West end-state. Each link is a cause-and-effect step.</a:t>
            </a:r>
          </a:p>
          <a:p>
            <a:pPr algn="l">
              <a:spcBef>
                <a:spcPts val="1000"/>
              </a:spcBef>
              <a:spcAft>
                <a:spcPts val="200"/>
              </a:spcAft>
            </a:pPr>
            <a:r>
              <a:rPr sz="1250" b="1" i="0">
                <a:solidFill>
                  <a:srgbClr val="003366"/>
                </a:solidFill>
                <a:latin typeface="Segoe UI"/>
              </a:rPr>
              <a:t>THE TIME DIMENSION</a:t>
            </a:r>
          </a:p>
          <a:p>
            <a:pPr algn="l">
              <a:spcBef>
                <a:spcPts val="400"/>
              </a:spcBef>
              <a:spcAft>
                <a:spcPts val="200"/>
              </a:spcAft>
            </a:pPr>
            <a:r>
              <a:rPr sz="1150" b="0" i="0">
                <a:solidFill>
                  <a:srgbClr val="1E293B"/>
                </a:solidFill>
                <a:latin typeface="Segoe UI"/>
              </a:rPr>
              <a:t>Every layer is tied to a horizon — short, medium, or long term — exactly as the strategy frames its goals. Near-term activity today is what produces the long-term outcomes by 2035.</a:t>
            </a:r>
          </a:p>
          <a:p>
            <a:pPr algn="l">
              <a:spcBef>
                <a:spcPts val="1000"/>
              </a:spcBef>
              <a:spcAft>
                <a:spcPts val="200"/>
              </a:spcAft>
            </a:pPr>
            <a:r>
              <a:rPr sz="1250" b="1" i="0">
                <a:solidFill>
                  <a:srgbClr val="003366"/>
                </a:solidFill>
                <a:latin typeface="Segoe UI"/>
              </a:rPr>
              <a:t>GROUNDED, NOT INVENTED</a:t>
            </a:r>
          </a:p>
          <a:p>
            <a:pPr algn="l">
              <a:spcBef>
                <a:spcPts val="400"/>
              </a:spcBef>
              <a:spcAft>
                <a:spcPts val="200"/>
              </a:spcAft>
            </a:pPr>
            <a:r>
              <a:rPr sz="1150" b="0" i="0">
                <a:solidFill>
                  <a:srgbClr val="1E293B"/>
                </a:solidFill>
                <a:latin typeface="Segoe UI"/>
              </a:rPr>
              <a:t>The model reuses the data the dashboard already holds (Action Plans, Funding, Policy, Infrastructure, Investment Promotion, Targets, Goals, and the Timeframe lookup). The ultimate targets are taken from the published strategy.</a:t>
            </a:r>
          </a:p>
        </p:txBody>
      </p:sp>
      <p:sp>
        <p:nvSpPr>
          <p:cNvPr id="6" name="Rounded Rectangle 5"/>
          <p:cNvSpPr/>
          <p:nvPr/>
        </p:nvSpPr>
        <p:spPr>
          <a:xfrm>
            <a:off x="6858000" y="1371600"/>
            <a:ext cx="4800600" cy="4709160"/>
          </a:xfrm>
          <a:prstGeom prst="roundRect">
            <a:avLst/>
          </a:prstGeom>
          <a:solidFill>
            <a:srgbClr val="F3F6FA"/>
          </a:solidFill>
          <a:ln w="19050">
            <a:solidFill>
              <a:srgbClr val="5F73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500"/>
              </a:spcAft>
            </a:pPr>
            <a:r>
              <a:rPr sz="1200" b="1" i="0">
                <a:solidFill>
                  <a:srgbClr val="003366"/>
                </a:solidFill>
                <a:latin typeface="Segoe UI"/>
              </a:rPr>
              <a:t>SCREENSHOT PLACEHOLDER</a:t>
            </a:r>
          </a:p>
          <a:p>
            <a:pPr algn="ctr">
              <a:spcBef>
                <a:spcPts val="400"/>
              </a:spcBef>
              <a:spcAft>
                <a:spcPts val="200"/>
              </a:spcAft>
            </a:pPr>
            <a:r>
              <a:rPr sz="1000" b="0" i="1">
                <a:solidFill>
                  <a:srgbClr val="5F7388"/>
                </a:solidFill>
                <a:latin typeface="Segoe UI"/>
              </a:rPr>
              <a:t>Capture (optional): the dashboard home view, for context on the front of this model.</a:t>
            </a:r>
          </a:p>
        </p:txBody>
      </p:sp>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DESTINATION</a:t>
            </a:r>
          </a:p>
          <a:p>
            <a:pPr algn="l">
              <a:spcBef>
                <a:spcPts val="0"/>
              </a:spcBef>
              <a:spcAft>
                <a:spcPts val="200"/>
              </a:spcAft>
            </a:pPr>
            <a:r>
              <a:rPr sz="2200" b="1" i="0">
                <a:solidFill>
                  <a:srgbClr val="FFFFFF"/>
                </a:solidFill>
                <a:latin typeface="Segoe UI"/>
              </a:rPr>
              <a:t>The Look West ultimate targets (the end-state)</a:t>
            </a:r>
          </a:p>
        </p:txBody>
      </p:sp>
      <p:sp>
        <p:nvSpPr>
          <p:cNvPr id="5" name="TextBox 4"/>
          <p:cNvSpPr txBox="1"/>
          <p:nvPr/>
        </p:nvSpPr>
        <p:spPr>
          <a:xfrm>
            <a:off x="502920" y="1280160"/>
            <a:ext cx="61264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THE FLAGSHIP</a:t>
            </a:r>
          </a:p>
          <a:p>
            <a:pPr algn="l">
              <a:spcBef>
                <a:spcPts val="400"/>
              </a:spcBef>
              <a:spcAft>
                <a:spcPts val="200"/>
              </a:spcAft>
            </a:pPr>
            <a:r>
              <a:rPr sz="1150" b="0" i="0">
                <a:solidFill>
                  <a:srgbClr val="1E293B"/>
                </a:solidFill>
                <a:latin typeface="Segoe UI"/>
              </a:rPr>
              <a:t>Secure $200 billion in private-sector investment in B.C. by ~2035 — the single headline commitment the whole chain drives toward.</a:t>
            </a:r>
          </a:p>
          <a:p>
            <a:pPr algn="l">
              <a:spcBef>
                <a:spcPts val="1000"/>
              </a:spcBef>
              <a:spcAft>
                <a:spcPts val="200"/>
              </a:spcAft>
            </a:pPr>
            <a:r>
              <a:rPr sz="1250" b="1" i="0">
                <a:solidFill>
                  <a:srgbClr val="003366"/>
                </a:solidFill>
                <a:latin typeface="Segoe UI"/>
              </a:rPr>
              <a:t>INVESTMENT &amp; PROJECTS</a:t>
            </a:r>
          </a:p>
          <a:p>
            <a:pPr algn="l">
              <a:spcBef>
                <a:spcPts val="400"/>
              </a:spcBef>
              <a:spcAft>
                <a:spcPts val="200"/>
              </a:spcAft>
            </a:pPr>
            <a:r>
              <a:rPr sz="1150" b="0" i="0">
                <a:solidFill>
                  <a:srgbClr val="1E293B"/>
                </a:solidFill>
                <a:latin typeface="Segoe UI"/>
              </a:rPr>
              <a:t>$88–89 billion in major projects moving forward over the next three years, on the path to the $200B decade goal.</a:t>
            </a:r>
          </a:p>
          <a:p>
            <a:pPr algn="l">
              <a:spcBef>
                <a:spcPts val="1000"/>
              </a:spcBef>
              <a:spcAft>
                <a:spcPts val="200"/>
              </a:spcAft>
            </a:pPr>
            <a:r>
              <a:rPr sz="1250" b="1" i="0">
                <a:solidFill>
                  <a:srgbClr val="003366"/>
                </a:solidFill>
                <a:latin typeface="Segoe UI"/>
              </a:rPr>
              <a:t>JOBS</a:t>
            </a:r>
          </a:p>
          <a:p>
            <a:pPr algn="l">
              <a:spcBef>
                <a:spcPts val="400"/>
              </a:spcBef>
              <a:spcAft>
                <a:spcPts val="200"/>
              </a:spcAft>
            </a:pPr>
            <a:r>
              <a:rPr sz="1150" b="0" i="0">
                <a:solidFill>
                  <a:srgbClr val="1E293B"/>
                </a:solidFill>
                <a:latin typeface="Segoe UI"/>
              </a:rPr>
              <a:t>Tens of thousands of new jobs across B.C. communities over the next three years; a sustained higher employment base long-term.</a:t>
            </a:r>
          </a:p>
          <a:p>
            <a:pPr algn="l">
              <a:spcBef>
                <a:spcPts val="1000"/>
              </a:spcBef>
              <a:spcAft>
                <a:spcPts val="200"/>
              </a:spcAft>
            </a:pPr>
            <a:r>
              <a:rPr sz="1250" b="1" i="0">
                <a:solidFill>
                  <a:srgbClr val="003366"/>
                </a:solidFill>
                <a:latin typeface="Segoe UI"/>
              </a:rPr>
              <a:t>DIVERSIFIED MARKETS</a:t>
            </a:r>
          </a:p>
          <a:p>
            <a:pPr algn="l">
              <a:spcBef>
                <a:spcPts val="400"/>
              </a:spcBef>
              <a:spcAft>
                <a:spcPts val="200"/>
              </a:spcAft>
            </a:pPr>
            <a:r>
              <a:rPr sz="1150" b="0" i="0">
                <a:solidFill>
                  <a:srgbClr val="1E293B"/>
                </a:solidFill>
                <a:latin typeface="Segoe UI"/>
              </a:rPr>
              <a:t>Double throughput and exports to non-U.S. markets — reduce reliance on a single trading partner.</a:t>
            </a:r>
          </a:p>
          <a:p>
            <a:pPr algn="l">
              <a:spcBef>
                <a:spcPts val="1000"/>
              </a:spcBef>
              <a:spcAft>
                <a:spcPts val="200"/>
              </a:spcAft>
            </a:pPr>
            <a:r>
              <a:rPr sz="1250" b="1" i="0">
                <a:solidFill>
                  <a:srgbClr val="003366"/>
                </a:solidFill>
                <a:latin typeface="Segoe UI"/>
              </a:rPr>
              <a:t>TARGETED-SECTOR GROWTH</a:t>
            </a:r>
          </a:p>
          <a:p>
            <a:pPr algn="l">
              <a:spcBef>
                <a:spcPts val="400"/>
              </a:spcBef>
              <a:spcAft>
                <a:spcPts val="200"/>
              </a:spcAft>
            </a:pPr>
            <a:r>
              <a:rPr sz="1150" b="0" i="0">
                <a:solidFill>
                  <a:srgbClr val="1E293B"/>
                </a:solidFill>
                <a:latin typeface="Segoe UI"/>
              </a:rPr>
              <a:t>Grow the targeted sectors (e.g. tech: increase sector jobs and GDP contribution by more than 75%); expand LNG capacity toward ~47.9 Mt/yr in the 2030s.</a:t>
            </a:r>
          </a:p>
          <a:p>
            <a:pPr algn="l">
              <a:spcBef>
                <a:spcPts val="1000"/>
              </a:spcBef>
              <a:spcAft>
                <a:spcPts val="200"/>
              </a:spcAft>
            </a:pPr>
            <a:r>
              <a:rPr sz="1250" b="1" i="0">
                <a:solidFill>
                  <a:srgbClr val="003366"/>
                </a:solidFill>
                <a:latin typeface="Segoe UI"/>
              </a:rPr>
              <a:t>SKILLED WORKFORCE</a:t>
            </a:r>
          </a:p>
          <a:p>
            <a:pPr algn="l">
              <a:spcBef>
                <a:spcPts val="400"/>
              </a:spcBef>
              <a:spcAft>
                <a:spcPts val="200"/>
              </a:spcAft>
            </a:pPr>
            <a:r>
              <a:rPr sz="1150" b="0" i="0">
                <a:solidFill>
                  <a:srgbClr val="1E293B"/>
                </a:solidFill>
                <a:latin typeface="Segoe UI"/>
              </a:rPr>
              <a:t>Double provincial trades-training funding; 5,000 new training seats near-term; ~$214M/yr by 2028–29 — the talent that makes the rest possible.</a:t>
            </a:r>
          </a:p>
        </p:txBody>
      </p:sp>
      <p:sp>
        <p:nvSpPr>
          <p:cNvPr id="6" name="Rounded Rectangle 5"/>
          <p:cNvSpPr/>
          <p:nvPr/>
        </p:nvSpPr>
        <p:spPr>
          <a:xfrm>
            <a:off x="6858000" y="1371600"/>
            <a:ext cx="4800600" cy="4709160"/>
          </a:xfrm>
          <a:prstGeom prst="roundRect">
            <a:avLst/>
          </a:prstGeom>
          <a:solidFill>
            <a:srgbClr val="F3F6FA"/>
          </a:solidFill>
          <a:ln w="19050">
            <a:solidFill>
              <a:srgbClr val="5F73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500"/>
              </a:spcAft>
            </a:pPr>
            <a:r>
              <a:rPr sz="1200" b="1" i="0">
                <a:solidFill>
                  <a:srgbClr val="003366"/>
                </a:solidFill>
                <a:latin typeface="Segoe UI"/>
              </a:rPr>
              <a:t>SCREENSHOT PLACEHOLDER</a:t>
            </a:r>
          </a:p>
          <a:p>
            <a:pPr algn="ctr">
              <a:spcBef>
                <a:spcPts val="400"/>
              </a:spcBef>
              <a:spcAft>
                <a:spcPts val="200"/>
              </a:spcAft>
            </a:pPr>
            <a:r>
              <a:rPr sz="1000" b="0" i="1">
                <a:solidFill>
                  <a:srgbClr val="5F7388"/>
                </a:solidFill>
                <a:latin typeface="Segoe UI"/>
              </a:rPr>
              <a:t>Capture: the Strategy Monitor hero cards (Jobs Created &amp; Protected · Funding Value · Goals Achieved) — today's read on these ultimate targets.</a:t>
            </a:r>
          </a:p>
        </p:txBody>
      </p:sp>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STRATEGY</a:t>
            </a:r>
          </a:p>
          <a:p>
            <a:pPr algn="l">
              <a:spcBef>
                <a:spcPts val="0"/>
              </a:spcBef>
              <a:spcAft>
                <a:spcPts val="200"/>
              </a:spcAft>
            </a:pPr>
            <a:r>
              <a:rPr sz="2200" b="1" i="0">
                <a:solidFill>
                  <a:srgbClr val="FFFFFF"/>
                </a:solidFill>
                <a:latin typeface="Segoe UI"/>
              </a:rPr>
              <a:t>Pillars &amp; horizons — the frame the model inherits</a:t>
            </a:r>
          </a:p>
        </p:txBody>
      </p:sp>
      <p:sp>
        <p:nvSpPr>
          <p:cNvPr id="5" name="TextBox 4"/>
          <p:cNvSpPr txBox="1"/>
          <p:nvPr/>
        </p:nvSpPr>
        <p:spPr>
          <a:xfrm>
            <a:off x="502920" y="1280160"/>
            <a:ext cx="111556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THE PILLARS (AS PUBLISHED)</a:t>
            </a:r>
          </a:p>
          <a:p>
            <a:pPr algn="l">
              <a:spcBef>
                <a:spcPts val="400"/>
              </a:spcBef>
              <a:spcAft>
                <a:spcPts val="200"/>
              </a:spcAft>
              <a:buChar char="•"/>
            </a:pPr>
            <a:r>
              <a:rPr sz="1150" b="0" i="0">
                <a:solidFill>
                  <a:srgbClr val="1E293B"/>
                </a:solidFill>
                <a:latin typeface="Segoe UI"/>
              </a:rPr>
              <a:t>1 — Strengthening our workforce</a:t>
            </a:r>
          </a:p>
          <a:p>
            <a:pPr algn="l">
              <a:spcBef>
                <a:spcPts val="400"/>
              </a:spcBef>
              <a:spcAft>
                <a:spcPts val="200"/>
              </a:spcAft>
              <a:buChar char="•"/>
            </a:pPr>
            <a:r>
              <a:rPr sz="1150" b="0" i="0">
                <a:solidFill>
                  <a:srgbClr val="1E293B"/>
                </a:solidFill>
                <a:latin typeface="Segoe UI"/>
              </a:rPr>
              <a:t>2 — Delivering major projects faster</a:t>
            </a:r>
          </a:p>
          <a:p>
            <a:pPr algn="l">
              <a:spcBef>
                <a:spcPts val="400"/>
              </a:spcBef>
              <a:spcAft>
                <a:spcPts val="200"/>
              </a:spcAft>
              <a:buChar char="•"/>
            </a:pPr>
            <a:r>
              <a:rPr sz="1150" b="0" i="0">
                <a:solidFill>
                  <a:srgbClr val="1E293B"/>
                </a:solidFill>
                <a:latin typeface="Segoe UI"/>
              </a:rPr>
              <a:t>3 — Diversifying markets &amp; growing targeted sectors</a:t>
            </a:r>
          </a:p>
          <a:p>
            <a:pPr algn="l">
              <a:spcBef>
                <a:spcPts val="1000"/>
              </a:spcBef>
              <a:spcAft>
                <a:spcPts val="200"/>
              </a:spcAft>
            </a:pPr>
            <a:r>
              <a:rPr sz="1250" b="1" i="0">
                <a:solidFill>
                  <a:srgbClr val="003366"/>
                </a:solidFill>
                <a:latin typeface="Segoe UI"/>
              </a:rPr>
              <a:t>HOW THE DASHBOARD SPLITS THEM</a:t>
            </a:r>
          </a:p>
          <a:p>
            <a:pPr algn="l">
              <a:spcBef>
                <a:spcPts val="400"/>
              </a:spcBef>
              <a:spcAft>
                <a:spcPts val="200"/>
              </a:spcAft>
            </a:pPr>
            <a:r>
              <a:rPr sz="1150" b="0" i="0">
                <a:solidFill>
                  <a:srgbClr val="1E293B"/>
                </a:solidFill>
                <a:latin typeface="Segoe UI"/>
              </a:rPr>
              <a:t>The dashboard tracks four pillars — it separates pillar 3 into "Diversifying Markets" and "Growing Targeted Sectors" for finer monitoring. Both views map cleanly onto each other.</a:t>
            </a:r>
          </a:p>
          <a:p>
            <a:pPr algn="l">
              <a:spcBef>
                <a:spcPts val="1000"/>
              </a:spcBef>
              <a:spcAft>
                <a:spcPts val="200"/>
              </a:spcAft>
            </a:pPr>
            <a:r>
              <a:rPr sz="1250" b="1" i="0">
                <a:solidFill>
                  <a:srgbClr val="003366"/>
                </a:solidFill>
                <a:latin typeface="Segoe UI"/>
              </a:rPr>
              <a:t>THE THREE HORIZONS (THE STRATEGY'S OWN LANGUAGE)</a:t>
            </a:r>
          </a:p>
          <a:p>
            <a:pPr algn="l">
              <a:spcBef>
                <a:spcPts val="400"/>
              </a:spcBef>
              <a:spcAft>
                <a:spcPts val="200"/>
              </a:spcAft>
              <a:buChar char="•"/>
            </a:pPr>
            <a:r>
              <a:rPr sz="1150" b="0" i="0">
                <a:solidFill>
                  <a:srgbClr val="1E293B"/>
                </a:solidFill>
                <a:latin typeface="Segoe UI"/>
              </a:rPr>
              <a:t>Short / near-term — "work already underway or upcoming" (now → ~2027)</a:t>
            </a:r>
          </a:p>
          <a:p>
            <a:pPr algn="l">
              <a:spcBef>
                <a:spcPts val="400"/>
              </a:spcBef>
              <a:spcAft>
                <a:spcPts val="200"/>
              </a:spcAft>
              <a:buChar char="•"/>
            </a:pPr>
            <a:r>
              <a:rPr sz="1150" b="0" i="0">
                <a:solidFill>
                  <a:srgbClr val="1E293B"/>
                </a:solidFill>
                <a:latin typeface="Segoe UI"/>
              </a:rPr>
              <a:t>Medium-term — "over the next three years" / "by 2030"</a:t>
            </a:r>
          </a:p>
          <a:p>
            <a:pPr algn="l">
              <a:spcBef>
                <a:spcPts val="400"/>
              </a:spcBef>
              <a:spcAft>
                <a:spcPts val="200"/>
              </a:spcAft>
              <a:buChar char="•"/>
            </a:pPr>
            <a:r>
              <a:rPr sz="1150" b="0" i="0">
                <a:solidFill>
                  <a:srgbClr val="1E293B"/>
                </a:solidFill>
                <a:latin typeface="Segoe UI"/>
              </a:rPr>
              <a:t>Long-term — "the next decade" / "by 2035"</a:t>
            </a:r>
          </a:p>
          <a:p>
            <a:pPr algn="l">
              <a:spcBef>
                <a:spcPts val="1000"/>
              </a:spcBef>
              <a:spcAft>
                <a:spcPts val="200"/>
              </a:spcAft>
            </a:pPr>
            <a:r>
              <a:rPr sz="1250" b="1" i="0">
                <a:solidFill>
                  <a:srgbClr val="003366"/>
                </a:solidFill>
                <a:latin typeface="Segoe UI"/>
              </a:rPr>
              <a:t>WHY THIS MATTERS FOR THE MODEL</a:t>
            </a:r>
          </a:p>
          <a:p>
            <a:pPr algn="l">
              <a:spcBef>
                <a:spcPts val="400"/>
              </a:spcBef>
              <a:spcAft>
                <a:spcPts val="200"/>
              </a:spcAft>
            </a:pPr>
            <a:r>
              <a:rPr sz="1150" b="0" i="0">
                <a:solidFill>
                  <a:srgbClr val="1E293B"/>
                </a:solidFill>
                <a:latin typeface="Segoe UI"/>
              </a:rPr>
              <a:t>Pillars answer WHERE effort goes; horizons answer WHEN results land. Every entity in the model is tagged with both, so progress can be read by pillar and by horizon.</a:t>
            </a:r>
          </a:p>
        </p:txBody>
      </p:sp>
      <p:sp>
        <p:nvSpPr>
          <p:cNvPr id="6" name="TextBox 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7" name="TextBox 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MODEL</a:t>
            </a:r>
          </a:p>
          <a:p>
            <a:pPr algn="l">
              <a:spcBef>
                <a:spcPts val="0"/>
              </a:spcBef>
              <a:spcAft>
                <a:spcPts val="200"/>
              </a:spcAft>
            </a:pPr>
            <a:r>
              <a:rPr sz="2200" b="1" i="0">
                <a:solidFill>
                  <a:srgbClr val="FFFFFF"/>
                </a:solidFill>
                <a:latin typeface="Segoe UI"/>
              </a:rPr>
              <a:t>The results chain — five layers, cause to effect</a:t>
            </a:r>
          </a:p>
        </p:txBody>
      </p:sp>
      <p:sp>
        <p:nvSpPr>
          <p:cNvPr id="5" name="Rounded Rectangle 4"/>
          <p:cNvSpPr/>
          <p:nvPr/>
        </p:nvSpPr>
        <p:spPr>
          <a:xfrm>
            <a:off x="502920" y="1280160"/>
            <a:ext cx="8778240" cy="749808"/>
          </a:xfrm>
          <a:prstGeom prst="roundRect">
            <a:avLst/>
          </a:prstGeom>
          <a:solidFill>
            <a:srgbClr val="5B3FB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spcBef>
                <a:spcPts val="400"/>
              </a:spcBef>
              <a:spcAft>
                <a:spcPts val="0"/>
              </a:spcAft>
            </a:pPr>
            <a:r>
              <a:rPr sz="950" b="1" i="0">
                <a:solidFill>
                  <a:srgbClr val="FCBA19"/>
                </a:solidFill>
                <a:latin typeface="Segoe UI"/>
              </a:rPr>
              <a:t>LAYER 1 · INPUTS</a:t>
            </a:r>
          </a:p>
          <a:p>
            <a:pPr algn="l">
              <a:spcBef>
                <a:spcPts val="100"/>
              </a:spcBef>
              <a:spcAft>
                <a:spcPts val="100"/>
              </a:spcAft>
            </a:pPr>
            <a:r>
              <a:rPr sz="1300" b="1" i="0">
                <a:solidFill>
                  <a:srgbClr val="FFFFFF"/>
                </a:solidFill>
                <a:latin typeface="Segoe UI"/>
              </a:rPr>
              <a:t>INSTRUMENTS — the levers government pulls</a:t>
            </a:r>
          </a:p>
          <a:p>
            <a:pPr algn="l">
              <a:spcBef>
                <a:spcPts val="0"/>
              </a:spcBef>
              <a:spcAft>
                <a:spcPts val="200"/>
              </a:spcAft>
            </a:pPr>
            <a:r>
              <a:rPr sz="1000" b="0" i="0">
                <a:solidFill>
                  <a:srgbClr val="E6EEF7"/>
                </a:solidFill>
                <a:latin typeface="Segoe UI"/>
              </a:rPr>
              <a:t>Action Plans · Funding Programs · Policy &amp; Regulations · Infrastructure · Investment Promotions · Major Projects</a:t>
            </a:r>
          </a:p>
        </p:txBody>
      </p:sp>
      <p:sp>
        <p:nvSpPr>
          <p:cNvPr id="6" name="Down Arrow 5"/>
          <p:cNvSpPr/>
          <p:nvPr/>
        </p:nvSpPr>
        <p:spPr>
          <a:xfrm>
            <a:off x="4700016" y="2048255"/>
            <a:ext cx="384048" cy="237744"/>
          </a:xfrm>
          <a:prstGeom prst="down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304287"/>
            <a:ext cx="8778240" cy="749808"/>
          </a:xfrm>
          <a:prstGeom prst="roundRect">
            <a:avLst/>
          </a:prstGeom>
          <a:solidFill>
            <a:srgbClr val="2563E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spcBef>
                <a:spcPts val="400"/>
              </a:spcBef>
              <a:spcAft>
                <a:spcPts val="0"/>
              </a:spcAft>
            </a:pPr>
            <a:r>
              <a:rPr sz="950" b="1" i="0">
                <a:solidFill>
                  <a:srgbClr val="FCBA19"/>
                </a:solidFill>
                <a:latin typeface="Segoe UI"/>
              </a:rPr>
              <a:t>LAYER 2 · OUTPUTS</a:t>
            </a:r>
          </a:p>
          <a:p>
            <a:pPr algn="l">
              <a:spcBef>
                <a:spcPts val="100"/>
              </a:spcBef>
              <a:spcAft>
                <a:spcPts val="100"/>
              </a:spcAft>
            </a:pPr>
            <a:r>
              <a:rPr sz="1300" b="1" i="0">
                <a:solidFill>
                  <a:srgbClr val="FFFFFF"/>
                </a:solidFill>
                <a:latin typeface="Segoe UI"/>
              </a:rPr>
              <a:t>TRACKED OUTPUTS — what the levers produce</a:t>
            </a:r>
          </a:p>
          <a:p>
            <a:pPr algn="l">
              <a:spcBef>
                <a:spcPts val="0"/>
              </a:spcBef>
              <a:spcAft>
                <a:spcPts val="200"/>
              </a:spcAft>
            </a:pPr>
            <a:r>
              <a:rPr sz="1000" b="0" i="0">
                <a:solidFill>
                  <a:srgbClr val="E6EEF7"/>
                </a:solidFill>
                <a:latin typeface="Segoe UI"/>
              </a:rPr>
              <a:t>Funding disbursed · Milestones met · Policy in force · Investment attracted · Jobs created/protected · Announcements (evidence)</a:t>
            </a:r>
          </a:p>
        </p:txBody>
      </p:sp>
      <p:sp>
        <p:nvSpPr>
          <p:cNvPr id="8" name="Down Arrow 7"/>
          <p:cNvSpPr/>
          <p:nvPr/>
        </p:nvSpPr>
        <p:spPr>
          <a:xfrm>
            <a:off x="4700016" y="3072383"/>
            <a:ext cx="384048" cy="237744"/>
          </a:xfrm>
          <a:prstGeom prst="down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3328415"/>
            <a:ext cx="8778240" cy="749808"/>
          </a:xfrm>
          <a:prstGeom prst="roundRect">
            <a:avLst/>
          </a:prstGeom>
          <a:solidFill>
            <a:srgbClr val="0E7A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spcBef>
                <a:spcPts val="400"/>
              </a:spcBef>
              <a:spcAft>
                <a:spcPts val="0"/>
              </a:spcAft>
            </a:pPr>
            <a:r>
              <a:rPr sz="950" b="1" i="0">
                <a:solidFill>
                  <a:srgbClr val="FCBA19"/>
                </a:solidFill>
                <a:latin typeface="Segoe UI"/>
              </a:rPr>
              <a:t>LAYER 3 · OUTCOMES</a:t>
            </a:r>
          </a:p>
          <a:p>
            <a:pPr algn="l">
              <a:spcBef>
                <a:spcPts val="100"/>
              </a:spcBef>
              <a:spcAft>
                <a:spcPts val="100"/>
              </a:spcAft>
            </a:pPr>
            <a:r>
              <a:rPr sz="1300" b="1" i="0">
                <a:solidFill>
                  <a:srgbClr val="FFFFFF"/>
                </a:solidFill>
                <a:latin typeface="Segoe UI"/>
              </a:rPr>
              <a:t>INTERMEDIATE OUTCOMES — the metrics we monitor</a:t>
            </a:r>
          </a:p>
          <a:p>
            <a:pPr algn="l">
              <a:spcBef>
                <a:spcPts val="0"/>
              </a:spcBef>
              <a:spcAft>
                <a:spcPts val="200"/>
              </a:spcAft>
            </a:pPr>
            <a:r>
              <a:rPr sz="1000" b="0" i="0">
                <a:solidFill>
                  <a:srgbClr val="E6EEF7"/>
                </a:solidFill>
                <a:latin typeface="Segoe UI"/>
              </a:rPr>
              <a:t>Goals &amp; Metrics Monitored · Target progress (Baseline → Current, Progress %)</a:t>
            </a:r>
          </a:p>
        </p:txBody>
      </p:sp>
      <p:sp>
        <p:nvSpPr>
          <p:cNvPr id="10" name="Down Arrow 9"/>
          <p:cNvSpPr/>
          <p:nvPr/>
        </p:nvSpPr>
        <p:spPr>
          <a:xfrm>
            <a:off x="4700016" y="4096511"/>
            <a:ext cx="384048" cy="237744"/>
          </a:xfrm>
          <a:prstGeom prst="down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4352544"/>
            <a:ext cx="8778240" cy="749808"/>
          </a:xfrm>
          <a:prstGeom prst="roundRect">
            <a:avLst/>
          </a:prstGeom>
          <a:solidFill>
            <a:srgbClr val="B4540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spcBef>
                <a:spcPts val="400"/>
              </a:spcBef>
              <a:spcAft>
                <a:spcPts val="0"/>
              </a:spcAft>
            </a:pPr>
            <a:r>
              <a:rPr sz="950" b="1" i="0">
                <a:solidFill>
                  <a:srgbClr val="FCBA19"/>
                </a:solidFill>
                <a:latin typeface="Segoe UI"/>
              </a:rPr>
              <a:t>LAYER 4 · TARGETS</a:t>
            </a:r>
          </a:p>
          <a:p>
            <a:pPr algn="l">
              <a:spcBef>
                <a:spcPts val="100"/>
              </a:spcBef>
              <a:spcAft>
                <a:spcPts val="100"/>
              </a:spcAft>
            </a:pPr>
            <a:r>
              <a:rPr sz="1300" b="1" i="0">
                <a:solidFill>
                  <a:srgbClr val="FFFFFF"/>
                </a:solidFill>
                <a:latin typeface="Segoe UI"/>
              </a:rPr>
              <a:t>STRATEGIC TARGETS — committed milestones</a:t>
            </a:r>
          </a:p>
          <a:p>
            <a:pPr algn="l">
              <a:spcBef>
                <a:spcPts val="0"/>
              </a:spcBef>
              <a:spcAft>
                <a:spcPts val="200"/>
              </a:spcAft>
            </a:pPr>
            <a:r>
              <a:rPr sz="1000" b="0" i="0">
                <a:solidFill>
                  <a:srgbClr val="E6EEF7"/>
                </a:solidFill>
                <a:latin typeface="Segoe UI"/>
              </a:rPr>
              <a:t>Targets (Target Value) by Pillar &amp; Timeline — the checkpoints toward the end-state</a:t>
            </a:r>
          </a:p>
        </p:txBody>
      </p:sp>
      <p:sp>
        <p:nvSpPr>
          <p:cNvPr id="12" name="Down Arrow 11"/>
          <p:cNvSpPr/>
          <p:nvPr/>
        </p:nvSpPr>
        <p:spPr>
          <a:xfrm>
            <a:off x="4700016" y="5120640"/>
            <a:ext cx="384048" cy="237744"/>
          </a:xfrm>
          <a:prstGeom prst="down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5376672"/>
            <a:ext cx="8778240" cy="749808"/>
          </a:xfrm>
          <a:prstGeom prst="roundRect">
            <a:avLst/>
          </a:prstGeom>
          <a:solidFill>
            <a:srgbClr val="0033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spcBef>
                <a:spcPts val="400"/>
              </a:spcBef>
              <a:spcAft>
                <a:spcPts val="0"/>
              </a:spcAft>
            </a:pPr>
            <a:r>
              <a:rPr sz="950" b="1" i="0">
                <a:solidFill>
                  <a:srgbClr val="FCBA19"/>
                </a:solidFill>
                <a:latin typeface="Segoe UI"/>
              </a:rPr>
              <a:t>LAYER 5 · IMPACT</a:t>
            </a:r>
          </a:p>
          <a:p>
            <a:pPr algn="l">
              <a:spcBef>
                <a:spcPts val="100"/>
              </a:spcBef>
              <a:spcAft>
                <a:spcPts val="100"/>
              </a:spcAft>
            </a:pPr>
            <a:r>
              <a:rPr sz="1300" b="1" i="0">
                <a:solidFill>
                  <a:srgbClr val="FFFFFF"/>
                </a:solidFill>
                <a:latin typeface="Segoe UI"/>
              </a:rPr>
              <a:t>ULTIMATE OUTCOMES — the Look West end-state</a:t>
            </a:r>
          </a:p>
          <a:p>
            <a:pPr algn="l">
              <a:spcBef>
                <a:spcPts val="0"/>
              </a:spcBef>
              <a:spcAft>
                <a:spcPts val="200"/>
              </a:spcAft>
            </a:pPr>
            <a:r>
              <a:rPr sz="1000" b="0" i="0">
                <a:solidFill>
                  <a:srgbClr val="E6EEF7"/>
                </a:solidFill>
                <a:latin typeface="Segoe UI"/>
              </a:rPr>
              <a:t>$200B private investment by 2035 · tens of thousands of jobs · diversified markets · skilled workforce · thriving sectors</a:t>
            </a:r>
          </a:p>
        </p:txBody>
      </p:sp>
      <p:sp>
        <p:nvSpPr>
          <p:cNvPr id="14" name="Rounded Rectangle 13"/>
          <p:cNvSpPr/>
          <p:nvPr/>
        </p:nvSpPr>
        <p:spPr>
          <a:xfrm>
            <a:off x="9555480" y="1280160"/>
            <a:ext cx="2103119" cy="4846320"/>
          </a:xfrm>
          <a:prstGeom prst="roundRect">
            <a:avLst/>
          </a:prstGeom>
          <a:solidFill>
            <a:srgbClr val="E9F1F9"/>
          </a:solidFill>
          <a:ln w="1270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spcBef>
                <a:spcPts val="400"/>
              </a:spcBef>
              <a:spcAft>
                <a:spcPts val="600"/>
              </a:spcAft>
            </a:pPr>
            <a:r>
              <a:rPr sz="1000" b="1" i="0">
                <a:solidFill>
                  <a:srgbClr val="003366"/>
                </a:solidFill>
                <a:latin typeface="Segoe UI"/>
              </a:rPr>
              <a:t>TIME HORIZON</a:t>
            </a:r>
          </a:p>
          <a:p>
            <a:pPr algn="ctr">
              <a:spcBef>
                <a:spcPts val="400"/>
              </a:spcBef>
              <a:spcAft>
                <a:spcPts val="100"/>
              </a:spcAft>
            </a:pPr>
            <a:r>
              <a:rPr sz="1000" b="1" i="0">
                <a:solidFill>
                  <a:srgbClr val="003366"/>
                </a:solidFill>
                <a:latin typeface="Segoe UI"/>
              </a:rPr>
              <a:t>▲ LONG</a:t>
            </a:r>
          </a:p>
          <a:p>
            <a:pPr algn="ctr">
              <a:spcBef>
                <a:spcPts val="400"/>
              </a:spcBef>
              <a:spcAft>
                <a:spcPts val="800"/>
              </a:spcAft>
            </a:pPr>
            <a:r>
              <a:rPr sz="900" b="0" i="1">
                <a:solidFill>
                  <a:srgbClr val="5F7388"/>
                </a:solidFill>
                <a:latin typeface="Segoe UI"/>
              </a:rPr>
              <a:t>lagging outcomes</a:t>
            </a:r>
          </a:p>
          <a:p>
            <a:pPr algn="ctr">
              <a:spcBef>
                <a:spcPts val="400"/>
              </a:spcBef>
              <a:spcAft>
                <a:spcPts val="800"/>
              </a:spcAft>
            </a:pPr>
            <a:r>
              <a:rPr sz="1000" b="1" i="0">
                <a:solidFill>
                  <a:srgbClr val="0E7A5A"/>
                </a:solidFill>
                <a:latin typeface="Segoe UI"/>
              </a:rPr>
              <a:t>MEDIUM</a:t>
            </a:r>
          </a:p>
          <a:p>
            <a:pPr algn="ctr">
              <a:spcBef>
                <a:spcPts val="400"/>
              </a:spcBef>
              <a:spcAft>
                <a:spcPts val="100"/>
              </a:spcAft>
            </a:pPr>
            <a:r>
              <a:rPr sz="1000" b="1" i="0">
                <a:solidFill>
                  <a:srgbClr val="2563EB"/>
                </a:solidFill>
                <a:latin typeface="Segoe UI"/>
              </a:rPr>
              <a:t>▼ SHORT</a:t>
            </a:r>
          </a:p>
          <a:p>
            <a:pPr algn="ctr">
              <a:spcBef>
                <a:spcPts val="400"/>
              </a:spcBef>
              <a:spcAft>
                <a:spcPts val="0"/>
              </a:spcAft>
            </a:pPr>
            <a:r>
              <a:rPr sz="900" b="0" i="1">
                <a:solidFill>
                  <a:srgbClr val="5F7388"/>
                </a:solidFill>
                <a:latin typeface="Segoe UI"/>
              </a:rPr>
              <a:t>leading indicators</a:t>
            </a:r>
          </a:p>
        </p:txBody>
      </p:sp>
      <p:sp>
        <p:nvSpPr>
          <p:cNvPr id="15" name="TextBox 14"/>
          <p:cNvSpPr txBox="1"/>
          <p:nvPr/>
        </p:nvSpPr>
        <p:spPr>
          <a:xfrm>
            <a:off x="502920" y="6053328"/>
            <a:ext cx="11155680" cy="365760"/>
          </a:xfrm>
          <a:prstGeom prst="rect">
            <a:avLst/>
          </a:prstGeom>
          <a:noFill/>
        </p:spPr>
        <p:txBody>
          <a:bodyPr wrap="square">
            <a:spAutoFit/>
          </a:bodyPr>
          <a:lstStyle/>
          <a:p>
            <a:pPr algn="l">
              <a:spcBef>
                <a:spcPts val="400"/>
              </a:spcBef>
              <a:spcAft>
                <a:spcPts val="200"/>
              </a:spcAft>
            </a:pPr>
            <a:r>
              <a:rPr sz="1000" b="0" i="1">
                <a:solidFill>
                  <a:srgbClr val="5F7388"/>
                </a:solidFill>
                <a:latin typeface="Segoe UI"/>
              </a:rPr>
              <a:t>Read top-to-bottom as cause → effect. Lower layers are what we can act on today; upper layers are what they produce over time.</a:t>
            </a:r>
          </a:p>
        </p:txBody>
      </p:sp>
      <p:sp>
        <p:nvSpPr>
          <p:cNvPr id="16" name="TextBox 1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17" name="TextBox 1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MODEL</a:t>
            </a:r>
          </a:p>
          <a:p>
            <a:pPr algn="l">
              <a:spcBef>
                <a:spcPts val="0"/>
              </a:spcBef>
              <a:spcAft>
                <a:spcPts val="200"/>
              </a:spcAft>
            </a:pPr>
            <a:r>
              <a:rPr sz="2200" b="1" i="0">
                <a:solidFill>
                  <a:srgbClr val="FFFFFF"/>
                </a:solidFill>
                <a:latin typeface="Segoe UI"/>
              </a:rPr>
              <a:t>Layer 1 — Instruments (the levers)</a:t>
            </a:r>
          </a:p>
        </p:txBody>
      </p:sp>
      <p:sp>
        <p:nvSpPr>
          <p:cNvPr id="5" name="TextBox 4"/>
          <p:cNvSpPr txBox="1"/>
          <p:nvPr/>
        </p:nvSpPr>
        <p:spPr>
          <a:xfrm>
            <a:off x="502920" y="1280160"/>
            <a:ext cx="111556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WHAT THEY ARE</a:t>
            </a:r>
          </a:p>
          <a:p>
            <a:pPr algn="l">
              <a:spcBef>
                <a:spcPts val="400"/>
              </a:spcBef>
              <a:spcAft>
                <a:spcPts val="200"/>
              </a:spcAft>
            </a:pPr>
            <a:r>
              <a:rPr sz="1150" b="0" i="0">
                <a:solidFill>
                  <a:srgbClr val="1E293B"/>
                </a:solidFill>
                <a:latin typeface="Segoe UI"/>
              </a:rPr>
              <a:t>The concrete things government does — its delivery instruments. In the data model these are the primary entities, each with its own ID and lifecycle status.</a:t>
            </a:r>
          </a:p>
          <a:p>
            <a:pPr algn="l">
              <a:spcBef>
                <a:spcPts val="1000"/>
              </a:spcBef>
              <a:spcAft>
                <a:spcPts val="200"/>
              </a:spcAft>
            </a:pPr>
            <a:r>
              <a:rPr sz="1250" b="1" i="0">
                <a:solidFill>
                  <a:srgbClr val="003366"/>
                </a:solidFill>
                <a:latin typeface="Segoe UI"/>
              </a:rPr>
              <a:t>THE ENTITIES</a:t>
            </a:r>
          </a:p>
          <a:p>
            <a:pPr algn="l">
              <a:spcBef>
                <a:spcPts val="400"/>
              </a:spcBef>
              <a:spcAft>
                <a:spcPts val="200"/>
              </a:spcAft>
              <a:buChar char="•"/>
            </a:pPr>
            <a:r>
              <a:rPr sz="1150" b="0" i="0">
                <a:solidFill>
                  <a:srgbClr val="1E293B"/>
                </a:solidFill>
                <a:latin typeface="Segoe UI"/>
              </a:rPr>
              <a:t>Action Plans (+ Commitments) — published intent, by pillar &amp; timeline</a:t>
            </a:r>
          </a:p>
          <a:p>
            <a:pPr algn="l">
              <a:spcBef>
                <a:spcPts val="400"/>
              </a:spcBef>
              <a:spcAft>
                <a:spcPts val="200"/>
              </a:spcAft>
              <a:buChar char="•"/>
            </a:pPr>
            <a:r>
              <a:rPr sz="1150" b="0" i="0">
                <a:solidFill>
                  <a:srgbClr val="1E293B"/>
                </a:solidFill>
                <a:latin typeface="Segoe UI"/>
              </a:rPr>
              <a:t>Funding Programs — dollars committed to a purpose</a:t>
            </a:r>
          </a:p>
          <a:p>
            <a:pPr algn="l">
              <a:spcBef>
                <a:spcPts val="400"/>
              </a:spcBef>
              <a:spcAft>
                <a:spcPts val="200"/>
              </a:spcAft>
              <a:buChar char="•"/>
            </a:pPr>
            <a:r>
              <a:rPr sz="1150" b="0" i="0">
                <a:solidFill>
                  <a:srgbClr val="1E293B"/>
                </a:solidFill>
                <a:latin typeface="Segoe UI"/>
              </a:rPr>
              <a:t>Policy &amp; Regulations — rule changes that unblock growth</a:t>
            </a:r>
          </a:p>
          <a:p>
            <a:pPr algn="l">
              <a:spcBef>
                <a:spcPts val="400"/>
              </a:spcBef>
              <a:spcAft>
                <a:spcPts val="200"/>
              </a:spcAft>
              <a:buChar char="•"/>
            </a:pPr>
            <a:r>
              <a:rPr sz="1150" b="0" i="0">
                <a:solidFill>
                  <a:srgbClr val="1E293B"/>
                </a:solidFill>
                <a:latin typeface="Segoe UI"/>
              </a:rPr>
              <a:t>Infrastructure — enabling capital projects</a:t>
            </a:r>
          </a:p>
          <a:p>
            <a:pPr algn="l">
              <a:spcBef>
                <a:spcPts val="400"/>
              </a:spcBef>
              <a:spcAft>
                <a:spcPts val="200"/>
              </a:spcAft>
              <a:buChar char="•"/>
            </a:pPr>
            <a:r>
              <a:rPr sz="1150" b="0" i="0">
                <a:solidFill>
                  <a:srgbClr val="1E293B"/>
                </a:solidFill>
                <a:latin typeface="Segoe UI"/>
              </a:rPr>
              <a:t>Investment Promotions — pipeline-building initiatives</a:t>
            </a:r>
          </a:p>
          <a:p>
            <a:pPr algn="l">
              <a:spcBef>
                <a:spcPts val="400"/>
              </a:spcBef>
              <a:spcAft>
                <a:spcPts val="200"/>
              </a:spcAft>
              <a:buChar char="•"/>
            </a:pPr>
            <a:r>
              <a:rPr sz="1150" b="0" i="0">
                <a:solidFill>
                  <a:srgbClr val="1E293B"/>
                </a:solidFill>
                <a:latin typeface="Segoe UI"/>
              </a:rPr>
              <a:t>Major Projects — the large private/public investments</a:t>
            </a:r>
          </a:p>
          <a:p>
            <a:pPr algn="l">
              <a:spcBef>
                <a:spcPts val="1000"/>
              </a:spcBef>
              <a:spcAft>
                <a:spcPts val="200"/>
              </a:spcAft>
            </a:pPr>
            <a:r>
              <a:rPr sz="1250" b="1" i="0">
                <a:solidFill>
                  <a:srgbClr val="003366"/>
                </a:solidFill>
                <a:latin typeface="Segoe UI"/>
              </a:rPr>
              <a:t>WHY THESE AND NOT OTHERS</a:t>
            </a:r>
          </a:p>
          <a:p>
            <a:pPr algn="l">
              <a:spcBef>
                <a:spcPts val="400"/>
              </a:spcBef>
              <a:spcAft>
                <a:spcPts val="200"/>
              </a:spcAft>
            </a:pPr>
            <a:r>
              <a:rPr sz="1150" b="0" i="0">
                <a:solidFill>
                  <a:srgbClr val="1E293B"/>
                </a:solidFill>
                <a:latin typeface="Segoe UI"/>
              </a:rPr>
              <a:t>Each is a lever the province can actually pull. Together they are the full toolkit behind Look West — funding, rules, build, attract, and plan. Anything the strategy 'does' is one of these.</a:t>
            </a:r>
          </a:p>
          <a:p>
            <a:pPr algn="l">
              <a:spcBef>
                <a:spcPts val="1000"/>
              </a:spcBef>
              <a:spcAft>
                <a:spcPts val="200"/>
              </a:spcAft>
            </a:pPr>
            <a:r>
              <a:rPr sz="1250" b="1" i="0">
                <a:solidFill>
                  <a:srgbClr val="003366"/>
                </a:solidFill>
                <a:latin typeface="Segoe UI"/>
              </a:rPr>
              <a:t>HOW THEY CARRY HORIZON</a:t>
            </a:r>
          </a:p>
          <a:p>
            <a:pPr algn="l">
              <a:spcBef>
                <a:spcPts val="400"/>
              </a:spcBef>
              <a:spcAft>
                <a:spcPts val="200"/>
              </a:spcAft>
            </a:pPr>
            <a:r>
              <a:rPr sz="1150" b="0" i="0">
                <a:solidFill>
                  <a:srgbClr val="1E293B"/>
                </a:solidFill>
                <a:latin typeface="Segoe UI"/>
              </a:rPr>
              <a:t>Action Plans and their Commitments carry a Timeline (short/medium/long); the rest carry Start/End dates that place them on the horizon spine.</a:t>
            </a:r>
          </a:p>
        </p:txBody>
      </p:sp>
      <p:sp>
        <p:nvSpPr>
          <p:cNvPr id="6" name="TextBox 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7" name="TextBox 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MODEL</a:t>
            </a:r>
          </a:p>
          <a:p>
            <a:pPr algn="l">
              <a:spcBef>
                <a:spcPts val="0"/>
              </a:spcBef>
              <a:spcAft>
                <a:spcPts val="200"/>
              </a:spcAft>
            </a:pPr>
            <a:r>
              <a:rPr sz="2200" b="1" i="0">
                <a:solidFill>
                  <a:srgbClr val="FFFFFF"/>
                </a:solidFill>
                <a:latin typeface="Segoe UI"/>
              </a:rPr>
              <a:t>Layer 2 — Tracked outputs (the deltas)</a:t>
            </a:r>
          </a:p>
        </p:txBody>
      </p:sp>
      <p:sp>
        <p:nvSpPr>
          <p:cNvPr id="5" name="TextBox 4"/>
          <p:cNvSpPr txBox="1"/>
          <p:nvPr/>
        </p:nvSpPr>
        <p:spPr>
          <a:xfrm>
            <a:off x="502920" y="1280160"/>
            <a:ext cx="61264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WHAT THEY ARE</a:t>
            </a:r>
          </a:p>
          <a:p>
            <a:pPr algn="l">
              <a:spcBef>
                <a:spcPts val="400"/>
              </a:spcBef>
              <a:spcAft>
                <a:spcPts val="200"/>
              </a:spcAft>
            </a:pPr>
            <a:r>
              <a:rPr sz="1150" b="0" i="0">
                <a:solidFill>
                  <a:srgbClr val="1E293B"/>
                </a:solidFill>
                <a:latin typeface="Segoe UI"/>
              </a:rPr>
              <a:t>The measurable movements each instrument produces — captured by the '…Tracker' entities that sit beside every instrument.</a:t>
            </a:r>
          </a:p>
          <a:p>
            <a:pPr algn="l">
              <a:spcBef>
                <a:spcPts val="1000"/>
              </a:spcBef>
              <a:spcAft>
                <a:spcPts val="200"/>
              </a:spcAft>
            </a:pPr>
            <a:r>
              <a:rPr sz="1250" b="1" i="0">
                <a:solidFill>
                  <a:srgbClr val="003366"/>
                </a:solidFill>
                <a:latin typeface="Segoe UI"/>
              </a:rPr>
              <a:t>THE TRACKER ENTITIES</a:t>
            </a:r>
          </a:p>
          <a:p>
            <a:pPr algn="l">
              <a:spcBef>
                <a:spcPts val="400"/>
              </a:spcBef>
              <a:spcAft>
                <a:spcPts val="200"/>
              </a:spcAft>
              <a:buChar char="•"/>
            </a:pPr>
            <a:r>
              <a:rPr sz="1150" b="0" i="0">
                <a:solidFill>
                  <a:srgbClr val="1E293B"/>
                </a:solidFill>
                <a:latin typeface="Segoe UI"/>
              </a:rPr>
              <a:t>Funding Program Tracker — amounts disbursed to recipients</a:t>
            </a:r>
          </a:p>
          <a:p>
            <a:pPr algn="l">
              <a:spcBef>
                <a:spcPts val="400"/>
              </a:spcBef>
              <a:spcAft>
                <a:spcPts val="200"/>
              </a:spcAft>
              <a:buChar char="•"/>
            </a:pPr>
            <a:r>
              <a:rPr sz="1150" b="0" i="0">
                <a:solidFill>
                  <a:srgbClr val="1E293B"/>
                </a:solidFill>
                <a:latin typeface="Segoe UI"/>
              </a:rPr>
              <a:t>Policy &amp; Regulation / Infrastructure / Major Project Trackers — milestones &amp; completion %</a:t>
            </a:r>
          </a:p>
          <a:p>
            <a:pPr algn="l">
              <a:spcBef>
                <a:spcPts val="400"/>
              </a:spcBef>
              <a:spcAft>
                <a:spcPts val="200"/>
              </a:spcAft>
              <a:buChar char="•"/>
            </a:pPr>
            <a:r>
              <a:rPr sz="1150" b="0" i="0">
                <a:solidFill>
                  <a:srgbClr val="1E293B"/>
                </a:solidFill>
                <a:latin typeface="Segoe UI"/>
              </a:rPr>
              <a:t>Investment Promotion Tracker — activities &amp; outcomes</a:t>
            </a:r>
          </a:p>
          <a:p>
            <a:pPr algn="l">
              <a:spcBef>
                <a:spcPts val="400"/>
              </a:spcBef>
              <a:spcAft>
                <a:spcPts val="200"/>
              </a:spcAft>
              <a:buChar char="•"/>
            </a:pPr>
            <a:r>
              <a:rPr sz="1150" b="0" i="0">
                <a:solidFill>
                  <a:srgbClr val="1E293B"/>
                </a:solidFill>
                <a:latin typeface="Segoe UI"/>
              </a:rPr>
              <a:t>Target Tracker — current value &amp; progress % against each target</a:t>
            </a:r>
          </a:p>
          <a:p>
            <a:pPr algn="l">
              <a:spcBef>
                <a:spcPts val="1000"/>
              </a:spcBef>
              <a:spcAft>
                <a:spcPts val="200"/>
              </a:spcAft>
            </a:pPr>
            <a:r>
              <a:rPr sz="1250" b="1" i="0">
                <a:solidFill>
                  <a:srgbClr val="003366"/>
                </a:solidFill>
                <a:latin typeface="Segoe UI"/>
              </a:rPr>
              <a:t>THE EVIDENCE LAYER</a:t>
            </a:r>
          </a:p>
          <a:p>
            <a:pPr algn="l">
              <a:spcBef>
                <a:spcPts val="400"/>
              </a:spcBef>
              <a:spcAft>
                <a:spcPts val="200"/>
              </a:spcAft>
            </a:pPr>
            <a:r>
              <a:rPr sz="1150" b="0" i="0">
                <a:solidFill>
                  <a:srgbClr val="1E293B"/>
                </a:solidFill>
                <a:latin typeface="Segoe UI"/>
              </a:rPr>
              <a:t>LW Announcements and LW News tie each output to a dated, sourced record — every number can be traced to a public event. This is what makes the chain auditable.</a:t>
            </a:r>
          </a:p>
          <a:p>
            <a:pPr algn="l">
              <a:spcBef>
                <a:spcPts val="1000"/>
              </a:spcBef>
              <a:spcAft>
                <a:spcPts val="200"/>
              </a:spcAft>
            </a:pPr>
            <a:r>
              <a:rPr sz="1250" b="1" i="0">
                <a:solidFill>
                  <a:srgbClr val="003366"/>
                </a:solidFill>
                <a:latin typeface="Segoe UI"/>
              </a:rPr>
              <a:t>WHY OUTPUTS ARE SEPARATED FROM INSTRUMENTS</a:t>
            </a:r>
          </a:p>
          <a:p>
            <a:pPr algn="l">
              <a:spcBef>
                <a:spcPts val="400"/>
              </a:spcBef>
              <a:spcAft>
                <a:spcPts val="200"/>
              </a:spcAft>
            </a:pPr>
            <a:r>
              <a:rPr sz="1150" b="0" i="0">
                <a:solidFill>
                  <a:srgbClr val="1E293B"/>
                </a:solidFill>
                <a:latin typeface="Segoe UI"/>
              </a:rPr>
              <a:t>An instrument is a commitment; an output is delivery. Keeping them distinct is how the model (and the dashboard) avoids mistaking 'announced' for 'achieved'.</a:t>
            </a:r>
          </a:p>
        </p:txBody>
      </p:sp>
      <p:sp>
        <p:nvSpPr>
          <p:cNvPr id="6" name="Rounded Rectangle 5"/>
          <p:cNvSpPr/>
          <p:nvPr/>
        </p:nvSpPr>
        <p:spPr>
          <a:xfrm>
            <a:off x="6858000" y="1371600"/>
            <a:ext cx="4800600" cy="4709160"/>
          </a:xfrm>
          <a:prstGeom prst="roundRect">
            <a:avLst/>
          </a:prstGeom>
          <a:solidFill>
            <a:srgbClr val="F3F6FA"/>
          </a:solidFill>
          <a:ln w="19050">
            <a:solidFill>
              <a:srgbClr val="5F73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500"/>
              </a:spcAft>
            </a:pPr>
            <a:r>
              <a:rPr sz="1200" b="1" i="0">
                <a:solidFill>
                  <a:srgbClr val="003366"/>
                </a:solidFill>
                <a:latin typeface="Segoe UI"/>
              </a:rPr>
              <a:t>SCREENSHOT PLACEHOLDER</a:t>
            </a:r>
          </a:p>
          <a:p>
            <a:pPr algn="ctr">
              <a:spcBef>
                <a:spcPts val="400"/>
              </a:spcBef>
              <a:spcAft>
                <a:spcPts val="200"/>
              </a:spcAft>
            </a:pPr>
            <a:r>
              <a:rPr sz="1000" b="0" i="1">
                <a:solidFill>
                  <a:srgbClr val="5F7388"/>
                </a:solidFill>
                <a:latin typeface="Segoe UI"/>
              </a:rPr>
              <a:t>Capture: the Strategy Monitor 'Investment &amp; Project Pipeline' table (funding by source + jobs) — Layer 2 outputs in the app.</a:t>
            </a:r>
          </a:p>
        </p:txBody>
      </p:sp>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MODEL</a:t>
            </a:r>
          </a:p>
          <a:p>
            <a:pPr algn="l">
              <a:spcBef>
                <a:spcPts val="0"/>
              </a:spcBef>
              <a:spcAft>
                <a:spcPts val="200"/>
              </a:spcAft>
            </a:pPr>
            <a:r>
              <a:rPr sz="2200" b="1" i="0">
                <a:solidFill>
                  <a:srgbClr val="FFFFFF"/>
                </a:solidFill>
                <a:latin typeface="Segoe UI"/>
              </a:rPr>
              <a:t>Layers 3–4 — Outcomes &amp; Targets (the measured progress)</a:t>
            </a:r>
          </a:p>
        </p:txBody>
      </p:sp>
      <p:sp>
        <p:nvSpPr>
          <p:cNvPr id="5" name="TextBox 4"/>
          <p:cNvSpPr txBox="1"/>
          <p:nvPr/>
        </p:nvSpPr>
        <p:spPr>
          <a:xfrm>
            <a:off x="502920" y="1280160"/>
            <a:ext cx="61264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LAYER 3 · INTERMEDIATE OUTCOMES</a:t>
            </a:r>
          </a:p>
          <a:p>
            <a:pPr algn="l">
              <a:spcBef>
                <a:spcPts val="400"/>
              </a:spcBef>
              <a:spcAft>
                <a:spcPts val="200"/>
              </a:spcAft>
            </a:pPr>
            <a:r>
              <a:rPr sz="1150" b="0" i="0">
                <a:solidFill>
                  <a:srgbClr val="1E293B"/>
                </a:solidFill>
                <a:latin typeface="Segoe UI"/>
              </a:rPr>
              <a:t>The metrics we actually monitor: Goals and their tracked Metrics (Goals Tracker), and each Target's movement from Baseline toward Target Value (Target Tracker Progress %). These are the dials that tell us if the outputs are adding up to real change.</a:t>
            </a:r>
          </a:p>
          <a:p>
            <a:pPr algn="l">
              <a:spcBef>
                <a:spcPts val="1000"/>
              </a:spcBef>
              <a:spcAft>
                <a:spcPts val="200"/>
              </a:spcAft>
            </a:pPr>
            <a:r>
              <a:rPr sz="1250" b="1" i="0">
                <a:solidFill>
                  <a:srgbClr val="003366"/>
                </a:solidFill>
                <a:latin typeface="Segoe UI"/>
              </a:rPr>
              <a:t>LAYER 4 · STRATEGIC TARGETS</a:t>
            </a:r>
          </a:p>
          <a:p>
            <a:pPr algn="l">
              <a:spcBef>
                <a:spcPts val="400"/>
              </a:spcBef>
              <a:spcAft>
                <a:spcPts val="200"/>
              </a:spcAft>
            </a:pPr>
            <a:r>
              <a:rPr sz="1150" b="0" i="0">
                <a:solidFill>
                  <a:srgbClr val="1E293B"/>
                </a:solidFill>
                <a:latin typeface="Segoe UI"/>
              </a:rPr>
              <a:t>The committed checkpoints: each Target carries a Baseline, a Target Value, a Pillar, and a Timeline. Hitting them in sequence is what converts activity into the ultimate end-state.</a:t>
            </a:r>
          </a:p>
          <a:p>
            <a:pPr algn="l">
              <a:spcBef>
                <a:spcPts val="1000"/>
              </a:spcBef>
              <a:spcAft>
                <a:spcPts val="200"/>
              </a:spcAft>
            </a:pPr>
            <a:r>
              <a:rPr sz="1250" b="1" i="0">
                <a:solidFill>
                  <a:srgbClr val="003366"/>
                </a:solidFill>
                <a:latin typeface="Segoe UI"/>
              </a:rPr>
              <a:t>THE JOIN THAT MAKES IT WORK</a:t>
            </a:r>
          </a:p>
          <a:p>
            <a:pPr algn="l">
              <a:spcBef>
                <a:spcPts val="400"/>
              </a:spcBef>
              <a:spcAft>
                <a:spcPts val="200"/>
              </a:spcAft>
            </a:pPr>
            <a:r>
              <a:rPr sz="1150" b="0" i="0">
                <a:solidFill>
                  <a:srgbClr val="1E293B"/>
                </a:solidFill>
                <a:latin typeface="Segoe UI"/>
              </a:rPr>
              <a:t>Targets → Target Tracker (by Target ID); Goals → Goals Tracker (by Goal ID). Progress % is computed from Baseline, Current, and Target Value — the same logic behind the Monitor's status roll-ups.</a:t>
            </a:r>
          </a:p>
          <a:p>
            <a:pPr algn="l">
              <a:spcBef>
                <a:spcPts val="1000"/>
              </a:spcBef>
              <a:spcAft>
                <a:spcPts val="200"/>
              </a:spcAft>
            </a:pPr>
            <a:r>
              <a:rPr sz="1250" b="1" i="0">
                <a:solidFill>
                  <a:srgbClr val="003366"/>
                </a:solidFill>
                <a:latin typeface="Segoe UI"/>
              </a:rPr>
              <a:t>WHY BOTH LAYERS</a:t>
            </a:r>
          </a:p>
          <a:p>
            <a:pPr algn="l">
              <a:spcBef>
                <a:spcPts val="400"/>
              </a:spcBef>
              <a:spcAft>
                <a:spcPts val="200"/>
              </a:spcAft>
            </a:pPr>
            <a:r>
              <a:rPr sz="1150" b="0" i="0">
                <a:solidFill>
                  <a:srgbClr val="1E293B"/>
                </a:solidFill>
                <a:latin typeface="Segoe UI"/>
              </a:rPr>
              <a:t>Targets are the destination markers; intermediate outcomes are the live speedometer. You need the speedometer to know, early, whether you'll reach the marker on time.</a:t>
            </a:r>
          </a:p>
        </p:txBody>
      </p:sp>
      <p:sp>
        <p:nvSpPr>
          <p:cNvPr id="6" name="Rounded Rectangle 5"/>
          <p:cNvSpPr/>
          <p:nvPr/>
        </p:nvSpPr>
        <p:spPr>
          <a:xfrm>
            <a:off x="6858000" y="1371600"/>
            <a:ext cx="4800600" cy="4709160"/>
          </a:xfrm>
          <a:prstGeom prst="roundRect">
            <a:avLst/>
          </a:prstGeom>
          <a:solidFill>
            <a:srgbClr val="F3F6FA"/>
          </a:solidFill>
          <a:ln w="19050">
            <a:solidFill>
              <a:srgbClr val="5F73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500"/>
              </a:spcAft>
            </a:pPr>
            <a:r>
              <a:rPr sz="1200" b="1" i="0">
                <a:solidFill>
                  <a:srgbClr val="003366"/>
                </a:solidFill>
                <a:latin typeface="Segoe UI"/>
              </a:rPr>
              <a:t>SCREENSHOT PLACEHOLDER</a:t>
            </a:r>
          </a:p>
          <a:p>
            <a:pPr algn="ctr">
              <a:spcBef>
                <a:spcPts val="400"/>
              </a:spcBef>
              <a:spcAft>
                <a:spcPts val="200"/>
              </a:spcAft>
            </a:pPr>
            <a:r>
              <a:rPr sz="1000" b="0" i="1">
                <a:solidFill>
                  <a:srgbClr val="5F7388"/>
                </a:solidFill>
                <a:latin typeface="Segoe UI"/>
              </a:rPr>
              <a:t>Capture: the Goals Tracker (a goal card with metric + status) or the Targets Tracker table — Layers 3–4 in the app.</a:t>
            </a:r>
          </a:p>
        </p:txBody>
      </p:sp>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TIME DIMENSION</a:t>
            </a:r>
          </a:p>
          <a:p>
            <a:pPr algn="l">
              <a:spcBef>
                <a:spcPts val="0"/>
              </a:spcBef>
              <a:spcAft>
                <a:spcPts val="200"/>
              </a:spcAft>
            </a:pPr>
            <a:r>
              <a:rPr sz="2200" b="1" i="0">
                <a:solidFill>
                  <a:srgbClr val="FFFFFF"/>
                </a:solidFill>
                <a:latin typeface="Segoe UI"/>
              </a:rPr>
              <a:t>Short → medium → long — leading indicators become lagging outcomes</a:t>
            </a:r>
          </a:p>
        </p:txBody>
      </p:sp>
      <p:sp>
        <p:nvSpPr>
          <p:cNvPr id="5" name="Rounded Rectangle 4"/>
          <p:cNvSpPr/>
          <p:nvPr/>
        </p:nvSpPr>
        <p:spPr>
          <a:xfrm>
            <a:off x="502920" y="1417320"/>
            <a:ext cx="3611880" cy="603504"/>
          </a:xfrm>
          <a:prstGeom prst="roundRect">
            <a:avLst/>
          </a:prstGeom>
          <a:solidFill>
            <a:srgbClr val="2563E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spcBef>
                <a:spcPts val="400"/>
              </a:spcBef>
              <a:spcAft>
                <a:spcPts val="0"/>
              </a:spcAft>
            </a:pPr>
            <a:r>
              <a:rPr sz="1300" b="1" i="0">
                <a:solidFill>
                  <a:srgbClr val="FFFFFF"/>
                </a:solidFill>
                <a:latin typeface="Segoe UI"/>
              </a:rPr>
              <a:t>SHORT-TERM</a:t>
            </a:r>
          </a:p>
          <a:p>
            <a:pPr algn="ctr">
              <a:spcBef>
                <a:spcPts val="0"/>
              </a:spcBef>
              <a:spcAft>
                <a:spcPts val="200"/>
              </a:spcAft>
            </a:pPr>
            <a:r>
              <a:rPr sz="950" b="0" i="0">
                <a:solidFill>
                  <a:srgbClr val="E6EEF7"/>
                </a:solidFill>
                <a:latin typeface="Segoe UI"/>
              </a:rPr>
              <a:t>now → ~2027  ·  leading</a:t>
            </a:r>
          </a:p>
        </p:txBody>
      </p:sp>
      <p:sp>
        <p:nvSpPr>
          <p:cNvPr id="6" name="Rounded Rectangle 5"/>
          <p:cNvSpPr/>
          <p:nvPr/>
        </p:nvSpPr>
        <p:spPr>
          <a:xfrm>
            <a:off x="502920" y="2075688"/>
            <a:ext cx="3611880" cy="3502152"/>
          </a:xfrm>
          <a:prstGeom prst="roundRect">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l">
              <a:spcBef>
                <a:spcPts val="0"/>
              </a:spcBef>
              <a:spcAft>
                <a:spcPts val="100"/>
              </a:spcAft>
            </a:pPr>
            <a:r>
              <a:rPr sz="1000" b="1" i="0">
                <a:solidFill>
                  <a:srgbClr val="2563EB"/>
                </a:solidFill>
                <a:latin typeface="Segoe UI"/>
              </a:rPr>
              <a:t>Instruments &amp; outputs (act now)</a:t>
            </a:r>
          </a:p>
          <a:p>
            <a:pPr algn="l">
              <a:spcBef>
                <a:spcPts val="400"/>
              </a:spcBef>
              <a:spcAft>
                <a:spcPts val="100"/>
              </a:spcAft>
              <a:buChar char="•"/>
            </a:pPr>
            <a:r>
              <a:rPr sz="950" b="0" i="0">
                <a:solidFill>
                  <a:srgbClr val="1E293B"/>
                </a:solidFill>
                <a:latin typeface="Segoe UI"/>
              </a:rPr>
              <a:t>Action plans published; permits accelerated</a:t>
            </a:r>
          </a:p>
          <a:p>
            <a:pPr algn="l">
              <a:spcBef>
                <a:spcPts val="400"/>
              </a:spcBef>
              <a:spcAft>
                <a:spcPts val="100"/>
              </a:spcAft>
              <a:buChar char="•"/>
            </a:pPr>
            <a:r>
              <a:rPr sz="950" b="0" i="0">
                <a:solidFill>
                  <a:srgbClr val="1E293B"/>
                </a:solidFill>
                <a:latin typeface="Segoe UI"/>
              </a:rPr>
              <a:t>Funding committed; promotions launched</a:t>
            </a:r>
          </a:p>
          <a:p>
            <a:pPr algn="l">
              <a:spcBef>
                <a:spcPts val="400"/>
              </a:spcBef>
              <a:spcAft>
                <a:spcPts val="100"/>
              </a:spcAft>
              <a:buChar char="•"/>
            </a:pPr>
            <a:r>
              <a:rPr sz="950" b="0" i="0">
                <a:solidFill>
                  <a:srgbClr val="1E293B"/>
                </a:solidFill>
                <a:latin typeface="Segoe UI"/>
              </a:rPr>
              <a:t>5,000 new trades-training seats</a:t>
            </a:r>
          </a:p>
          <a:p>
            <a:pPr algn="l">
              <a:spcBef>
                <a:spcPts val="400"/>
              </a:spcBef>
              <a:spcAft>
                <a:spcPts val="100"/>
              </a:spcAft>
              <a:buChar char="•"/>
            </a:pPr>
            <a:r>
              <a:rPr sz="950" b="0" i="0">
                <a:solidFill>
                  <a:srgbClr val="1E293B"/>
                </a:solidFill>
                <a:latin typeface="Segoe UI"/>
              </a:rPr>
              <a:t>Announcements captured as evidence</a:t>
            </a:r>
          </a:p>
          <a:p>
            <a:pPr algn="l">
              <a:spcBef>
                <a:spcPts val="600"/>
              </a:spcBef>
              <a:spcAft>
                <a:spcPts val="100"/>
              </a:spcAft>
            </a:pPr>
            <a:r>
              <a:rPr sz="1000" b="1" i="0">
                <a:solidFill>
                  <a:srgbClr val="2563EB"/>
                </a:solidFill>
                <a:latin typeface="Segoe UI"/>
              </a:rPr>
              <a:t>What we watch</a:t>
            </a:r>
          </a:p>
          <a:p>
            <a:pPr algn="l">
              <a:spcBef>
                <a:spcPts val="400"/>
              </a:spcBef>
              <a:spcAft>
                <a:spcPts val="100"/>
              </a:spcAft>
              <a:buChar char="•"/>
            </a:pPr>
            <a:r>
              <a:rPr sz="950" b="0" i="0">
                <a:solidFill>
                  <a:srgbClr val="1E293B"/>
                </a:solidFill>
                <a:latin typeface="Segoe UI"/>
              </a:rPr>
              <a:t>Coverage &amp; activity counts</a:t>
            </a:r>
          </a:p>
          <a:p>
            <a:pPr algn="l">
              <a:spcBef>
                <a:spcPts val="400"/>
              </a:spcBef>
              <a:spcAft>
                <a:spcPts val="100"/>
              </a:spcAft>
              <a:buChar char="•"/>
            </a:pPr>
            <a:r>
              <a:rPr sz="950" b="0" i="0">
                <a:solidFill>
                  <a:srgbClr val="1E293B"/>
                </a:solidFill>
                <a:latin typeface="Segoe UI"/>
              </a:rPr>
              <a:t>Data-gap &amp; 'at risk' flags</a:t>
            </a:r>
          </a:p>
        </p:txBody>
      </p:sp>
      <p:sp>
        <p:nvSpPr>
          <p:cNvPr id="7" name="Rounded Rectangle 6"/>
          <p:cNvSpPr/>
          <p:nvPr/>
        </p:nvSpPr>
        <p:spPr>
          <a:xfrm>
            <a:off x="4297680" y="1417320"/>
            <a:ext cx="3611880" cy="603504"/>
          </a:xfrm>
          <a:prstGeom prst="roundRect">
            <a:avLst/>
          </a:prstGeom>
          <a:solidFill>
            <a:srgbClr val="0E7A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spcBef>
                <a:spcPts val="400"/>
              </a:spcBef>
              <a:spcAft>
                <a:spcPts val="0"/>
              </a:spcAft>
            </a:pPr>
            <a:r>
              <a:rPr sz="1300" b="1" i="0">
                <a:solidFill>
                  <a:srgbClr val="FFFFFF"/>
                </a:solidFill>
                <a:latin typeface="Segoe UI"/>
              </a:rPr>
              <a:t>MEDIUM-TERM</a:t>
            </a:r>
          </a:p>
          <a:p>
            <a:pPr algn="ctr">
              <a:spcBef>
                <a:spcPts val="0"/>
              </a:spcBef>
              <a:spcAft>
                <a:spcPts val="200"/>
              </a:spcAft>
            </a:pPr>
            <a:r>
              <a:rPr sz="950" b="0" i="0">
                <a:solidFill>
                  <a:srgbClr val="E6EEF7"/>
                </a:solidFill>
                <a:latin typeface="Segoe UI"/>
              </a:rPr>
              <a:t>~2027 → 2030  ·  outcomes</a:t>
            </a:r>
          </a:p>
        </p:txBody>
      </p:sp>
      <p:sp>
        <p:nvSpPr>
          <p:cNvPr id="8" name="Rounded Rectangle 7"/>
          <p:cNvSpPr/>
          <p:nvPr/>
        </p:nvSpPr>
        <p:spPr>
          <a:xfrm>
            <a:off x="4297680" y="2075688"/>
            <a:ext cx="3611880" cy="3502152"/>
          </a:xfrm>
          <a:prstGeom prst="roundRect">
            <a:avLst/>
          </a:prstGeom>
          <a:solidFill>
            <a:srgbClr val="FFFFFF"/>
          </a:solidFill>
          <a:ln w="15875">
            <a:solidFill>
              <a:srgbClr val="0E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l">
              <a:spcBef>
                <a:spcPts val="0"/>
              </a:spcBef>
              <a:spcAft>
                <a:spcPts val="100"/>
              </a:spcAft>
            </a:pPr>
            <a:r>
              <a:rPr sz="1000" b="1" i="0">
                <a:solidFill>
                  <a:srgbClr val="0E7A5A"/>
                </a:solidFill>
                <a:latin typeface="Segoe UI"/>
              </a:rPr>
              <a:t>Intermediate outcomes emerge</a:t>
            </a:r>
          </a:p>
          <a:p>
            <a:pPr algn="l">
              <a:spcBef>
                <a:spcPts val="400"/>
              </a:spcBef>
              <a:spcAft>
                <a:spcPts val="100"/>
              </a:spcAft>
              <a:buChar char="•"/>
            </a:pPr>
            <a:r>
              <a:rPr sz="950" b="0" i="0">
                <a:solidFill>
                  <a:srgbClr val="1E293B"/>
                </a:solidFill>
                <a:latin typeface="Segoe UI"/>
              </a:rPr>
              <a:t>Jobs created &amp; protected accumulate</a:t>
            </a:r>
          </a:p>
          <a:p>
            <a:pPr algn="l">
              <a:spcBef>
                <a:spcPts val="400"/>
              </a:spcBef>
              <a:spcAft>
                <a:spcPts val="100"/>
              </a:spcAft>
              <a:buChar char="•"/>
            </a:pPr>
            <a:r>
              <a:rPr sz="950" b="0" i="0">
                <a:solidFill>
                  <a:srgbClr val="1E293B"/>
                </a:solidFill>
                <a:latin typeface="Segoe UI"/>
              </a:rPr>
              <a:t>Investment attracted; projects completed</a:t>
            </a:r>
          </a:p>
          <a:p>
            <a:pPr algn="l">
              <a:spcBef>
                <a:spcPts val="400"/>
              </a:spcBef>
              <a:spcAft>
                <a:spcPts val="100"/>
              </a:spcAft>
              <a:buChar char="•"/>
            </a:pPr>
            <a:r>
              <a:rPr sz="950" b="0" i="0">
                <a:solidFill>
                  <a:srgbClr val="1E293B"/>
                </a:solidFill>
                <a:latin typeface="Segoe UI"/>
              </a:rPr>
              <a:t>$88–89B major projects moving forward</a:t>
            </a:r>
          </a:p>
          <a:p>
            <a:pPr algn="l">
              <a:spcBef>
                <a:spcPts val="400"/>
              </a:spcBef>
              <a:spcAft>
                <a:spcPts val="100"/>
              </a:spcAft>
              <a:buChar char="•"/>
            </a:pPr>
            <a:r>
              <a:rPr sz="950" b="0" i="0">
                <a:solidFill>
                  <a:srgbClr val="1E293B"/>
                </a:solidFill>
                <a:latin typeface="Segoe UI"/>
              </a:rPr>
              <a:t>Renewable 1.3B L/yr by 2030; training $214M/yr by 2028–29</a:t>
            </a:r>
          </a:p>
          <a:p>
            <a:pPr algn="l">
              <a:spcBef>
                <a:spcPts val="600"/>
              </a:spcBef>
              <a:spcAft>
                <a:spcPts val="100"/>
              </a:spcAft>
            </a:pPr>
            <a:r>
              <a:rPr sz="1000" b="1" i="0">
                <a:solidFill>
                  <a:srgbClr val="0E7A5A"/>
                </a:solidFill>
                <a:latin typeface="Segoe UI"/>
              </a:rPr>
              <a:t>What we watch</a:t>
            </a:r>
          </a:p>
          <a:p>
            <a:pPr algn="l">
              <a:spcBef>
                <a:spcPts val="400"/>
              </a:spcBef>
              <a:spcAft>
                <a:spcPts val="100"/>
              </a:spcAft>
              <a:buChar char="•"/>
            </a:pPr>
            <a:r>
              <a:rPr sz="950" b="0" i="0">
                <a:solidFill>
                  <a:srgbClr val="1E293B"/>
                </a:solidFill>
                <a:latin typeface="Segoe UI"/>
              </a:rPr>
              <a:t>Target Progress % vs plan</a:t>
            </a:r>
          </a:p>
          <a:p>
            <a:pPr algn="l">
              <a:spcBef>
                <a:spcPts val="400"/>
              </a:spcBef>
              <a:spcAft>
                <a:spcPts val="100"/>
              </a:spcAft>
              <a:buChar char="•"/>
            </a:pPr>
            <a:r>
              <a:rPr sz="950" b="0" i="0">
                <a:solidFill>
                  <a:srgbClr val="1E293B"/>
                </a:solidFill>
                <a:latin typeface="Segoe UI"/>
              </a:rPr>
              <a:t>Goal status: On Track / At Risk</a:t>
            </a:r>
          </a:p>
        </p:txBody>
      </p:sp>
      <p:sp>
        <p:nvSpPr>
          <p:cNvPr id="9" name="Rounded Rectangle 8"/>
          <p:cNvSpPr/>
          <p:nvPr/>
        </p:nvSpPr>
        <p:spPr>
          <a:xfrm>
            <a:off x="8092440" y="1417320"/>
            <a:ext cx="3611880" cy="603504"/>
          </a:xfrm>
          <a:prstGeom prst="roundRect">
            <a:avLst/>
          </a:prstGeom>
          <a:solidFill>
            <a:srgbClr val="0033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spcBef>
                <a:spcPts val="400"/>
              </a:spcBef>
              <a:spcAft>
                <a:spcPts val="0"/>
              </a:spcAft>
            </a:pPr>
            <a:r>
              <a:rPr sz="1300" b="1" i="0">
                <a:solidFill>
                  <a:srgbClr val="FFFFFF"/>
                </a:solidFill>
                <a:latin typeface="Segoe UI"/>
              </a:rPr>
              <a:t>LONG-TERM</a:t>
            </a:r>
          </a:p>
          <a:p>
            <a:pPr algn="ctr">
              <a:spcBef>
                <a:spcPts val="0"/>
              </a:spcBef>
              <a:spcAft>
                <a:spcPts val="200"/>
              </a:spcAft>
            </a:pPr>
            <a:r>
              <a:rPr sz="950" b="0" i="0">
                <a:solidFill>
                  <a:srgbClr val="E6EEF7"/>
                </a:solidFill>
                <a:latin typeface="Segoe UI"/>
              </a:rPr>
              <a:t>2030 → 2035  ·  lagging / ultimate</a:t>
            </a:r>
          </a:p>
        </p:txBody>
      </p:sp>
      <p:sp>
        <p:nvSpPr>
          <p:cNvPr id="10" name="Rounded Rectangle 9"/>
          <p:cNvSpPr/>
          <p:nvPr/>
        </p:nvSpPr>
        <p:spPr>
          <a:xfrm>
            <a:off x="8092440" y="2075688"/>
            <a:ext cx="3611880" cy="3502152"/>
          </a:xfrm>
          <a:prstGeom prst="roundRect">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l">
              <a:spcBef>
                <a:spcPts val="0"/>
              </a:spcBef>
              <a:spcAft>
                <a:spcPts val="100"/>
              </a:spcAft>
            </a:pPr>
            <a:r>
              <a:rPr sz="1000" b="1" i="0">
                <a:solidFill>
                  <a:srgbClr val="003366"/>
                </a:solidFill>
                <a:latin typeface="Segoe UI"/>
              </a:rPr>
              <a:t>Ultimate targets realized</a:t>
            </a:r>
          </a:p>
          <a:p>
            <a:pPr algn="l">
              <a:spcBef>
                <a:spcPts val="400"/>
              </a:spcBef>
              <a:spcAft>
                <a:spcPts val="100"/>
              </a:spcAft>
              <a:buChar char="•"/>
            </a:pPr>
            <a:r>
              <a:rPr sz="950" b="0" i="0">
                <a:solidFill>
                  <a:srgbClr val="1E293B"/>
                </a:solidFill>
                <a:latin typeface="Segoe UI"/>
              </a:rPr>
              <a:t>$200B private-sector investment by 2035</a:t>
            </a:r>
          </a:p>
          <a:p>
            <a:pPr algn="l">
              <a:spcBef>
                <a:spcPts val="400"/>
              </a:spcBef>
              <a:spcAft>
                <a:spcPts val="100"/>
              </a:spcAft>
              <a:buChar char="•"/>
            </a:pPr>
            <a:r>
              <a:rPr sz="950" b="0" i="0">
                <a:solidFill>
                  <a:srgbClr val="1E293B"/>
                </a:solidFill>
                <a:latin typeface="Segoe UI"/>
              </a:rPr>
              <a:t>Tech jobs + GDP contribution up &gt;75%</a:t>
            </a:r>
          </a:p>
          <a:p>
            <a:pPr algn="l">
              <a:spcBef>
                <a:spcPts val="400"/>
              </a:spcBef>
              <a:spcAft>
                <a:spcPts val="100"/>
              </a:spcAft>
              <a:buChar char="•"/>
            </a:pPr>
            <a:r>
              <a:rPr sz="950" b="0" i="0">
                <a:solidFill>
                  <a:srgbClr val="1E293B"/>
                </a:solidFill>
                <a:latin typeface="Segoe UI"/>
              </a:rPr>
              <a:t>LNG toward ~47.9 Mt/yr; non-U.S. exports doubled</a:t>
            </a:r>
          </a:p>
          <a:p>
            <a:pPr algn="l">
              <a:spcBef>
                <a:spcPts val="400"/>
              </a:spcBef>
              <a:spcAft>
                <a:spcPts val="100"/>
              </a:spcAft>
              <a:buChar char="•"/>
            </a:pPr>
            <a:r>
              <a:rPr sz="950" b="0" i="0">
                <a:solidFill>
                  <a:srgbClr val="1E293B"/>
                </a:solidFill>
                <a:latin typeface="Segoe UI"/>
              </a:rPr>
              <a:t>Sustained, diversified, higher-employment economy</a:t>
            </a:r>
          </a:p>
          <a:p>
            <a:pPr algn="l">
              <a:spcBef>
                <a:spcPts val="600"/>
              </a:spcBef>
              <a:spcAft>
                <a:spcPts val="100"/>
              </a:spcAft>
            </a:pPr>
            <a:r>
              <a:rPr sz="1000" b="1" i="0">
                <a:solidFill>
                  <a:srgbClr val="003366"/>
                </a:solidFill>
                <a:latin typeface="Segoe UI"/>
              </a:rPr>
              <a:t>What we watch</a:t>
            </a:r>
          </a:p>
          <a:p>
            <a:pPr algn="l">
              <a:spcBef>
                <a:spcPts val="400"/>
              </a:spcBef>
              <a:spcAft>
                <a:spcPts val="100"/>
              </a:spcAft>
              <a:buChar char="•"/>
            </a:pPr>
            <a:r>
              <a:rPr sz="950" b="0" i="0">
                <a:solidFill>
                  <a:srgbClr val="1E293B"/>
                </a:solidFill>
                <a:latin typeface="Segoe UI"/>
              </a:rPr>
              <a:t>Targets met vs committed</a:t>
            </a:r>
          </a:p>
          <a:p>
            <a:pPr algn="l">
              <a:spcBef>
                <a:spcPts val="400"/>
              </a:spcBef>
              <a:spcAft>
                <a:spcPts val="100"/>
              </a:spcAft>
              <a:buChar char="•"/>
            </a:pPr>
            <a:r>
              <a:rPr sz="950" b="0" i="0">
                <a:solidFill>
                  <a:srgbClr val="1E293B"/>
                </a:solidFill>
                <a:latin typeface="Segoe UI"/>
              </a:rPr>
              <a:t>Pillar-level end-state delivery</a:t>
            </a:r>
          </a:p>
        </p:txBody>
      </p:sp>
      <p:sp>
        <p:nvSpPr>
          <p:cNvPr id="11" name="Right Arrow 10"/>
          <p:cNvSpPr/>
          <p:nvPr/>
        </p:nvSpPr>
        <p:spPr>
          <a:xfrm>
            <a:off x="868680" y="5760720"/>
            <a:ext cx="10607040" cy="274320"/>
          </a:xfrm>
          <a:prstGeom prst="rightArrow">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53328"/>
            <a:ext cx="11155680" cy="365760"/>
          </a:xfrm>
          <a:prstGeom prst="rect">
            <a:avLst/>
          </a:prstGeom>
          <a:noFill/>
        </p:spPr>
        <p:txBody>
          <a:bodyPr wrap="square">
            <a:spAutoFit/>
          </a:bodyPr>
          <a:lstStyle/>
          <a:p>
            <a:pPr algn="l">
              <a:spcBef>
                <a:spcPts val="400"/>
              </a:spcBef>
              <a:spcAft>
                <a:spcPts val="200"/>
              </a:spcAft>
            </a:pPr>
            <a:r>
              <a:rPr sz="1000" b="0" i="1">
                <a:solidFill>
                  <a:srgbClr val="5F7388"/>
                </a:solidFill>
                <a:latin typeface="Segoe UI"/>
              </a:rPr>
              <a:t>Today's short-term instruments are the cause of the long-term outcomes. Monitoring the left column early is how we protect the right column.</a:t>
            </a:r>
          </a:p>
        </p:txBody>
      </p:sp>
      <p:sp>
        <p:nvSpPr>
          <p:cNvPr id="13" name="TextBox 12"/>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14" name="TextBox 13"/>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TIME DIMENSION</a:t>
            </a:r>
          </a:p>
          <a:p>
            <a:pPr algn="l">
              <a:spcBef>
                <a:spcPts val="0"/>
              </a:spcBef>
              <a:spcAft>
                <a:spcPts val="200"/>
              </a:spcAft>
            </a:pPr>
            <a:r>
              <a:rPr sz="2200" b="1" i="0">
                <a:solidFill>
                  <a:srgbClr val="FFFFFF"/>
                </a:solidFill>
                <a:latin typeface="Segoe UI"/>
              </a:rPr>
              <a:t>Leading vs lagging — why the horizon spine matters</a:t>
            </a:r>
          </a:p>
        </p:txBody>
      </p:sp>
      <p:sp>
        <p:nvSpPr>
          <p:cNvPr id="5" name="TextBox 4"/>
          <p:cNvSpPr txBox="1"/>
          <p:nvPr/>
        </p:nvSpPr>
        <p:spPr>
          <a:xfrm>
            <a:off x="502920" y="1280160"/>
            <a:ext cx="111556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THE CORE IDEA</a:t>
            </a:r>
          </a:p>
          <a:p>
            <a:pPr algn="l">
              <a:spcBef>
                <a:spcPts val="400"/>
              </a:spcBef>
              <a:spcAft>
                <a:spcPts val="200"/>
              </a:spcAft>
            </a:pPr>
            <a:r>
              <a:rPr sz="1150" b="0" i="0">
                <a:solidFill>
                  <a:srgbClr val="1E293B"/>
                </a:solidFill>
                <a:latin typeface="Segoe UI"/>
              </a:rPr>
              <a:t>Ultimate targets (jobs, $200B investment) are lagging — they only move years after the work. If you wait to measure them, it's too late to change the result.</a:t>
            </a:r>
          </a:p>
          <a:p>
            <a:pPr algn="l">
              <a:spcBef>
                <a:spcPts val="1000"/>
              </a:spcBef>
              <a:spcAft>
                <a:spcPts val="200"/>
              </a:spcAft>
            </a:pPr>
            <a:r>
              <a:rPr sz="1250" b="1" i="0">
                <a:solidFill>
                  <a:srgbClr val="003366"/>
                </a:solidFill>
                <a:latin typeface="Segoe UI"/>
              </a:rPr>
              <a:t>WHAT THE DASHBOARD DOES INSTEAD</a:t>
            </a:r>
          </a:p>
          <a:p>
            <a:pPr algn="l">
              <a:spcBef>
                <a:spcPts val="400"/>
              </a:spcBef>
              <a:spcAft>
                <a:spcPts val="200"/>
              </a:spcAft>
            </a:pPr>
            <a:r>
              <a:rPr sz="1150" b="0" i="0">
                <a:solidFill>
                  <a:srgbClr val="1E293B"/>
                </a:solidFill>
                <a:latin typeface="Segoe UI"/>
              </a:rPr>
              <a:t>It monitors leading indicators now — funding committed, permits cleared, promotions launched, training seats filled — which predict the lagging outcomes. These are the short-term layer of the model.</a:t>
            </a:r>
          </a:p>
          <a:p>
            <a:pPr algn="l">
              <a:spcBef>
                <a:spcPts val="1000"/>
              </a:spcBef>
              <a:spcAft>
                <a:spcPts val="200"/>
              </a:spcAft>
            </a:pPr>
            <a:r>
              <a:rPr sz="1250" b="1" i="0">
                <a:solidFill>
                  <a:srgbClr val="003366"/>
                </a:solidFill>
                <a:latin typeface="Segoe UI"/>
              </a:rPr>
              <a:t>THE HORIZON BACKBONE IN DATA</a:t>
            </a:r>
          </a:p>
          <a:p>
            <a:pPr algn="l">
              <a:spcBef>
                <a:spcPts val="400"/>
              </a:spcBef>
              <a:spcAft>
                <a:spcPts val="200"/>
              </a:spcAft>
            </a:pPr>
            <a:r>
              <a:rPr sz="1150" b="0" i="0">
                <a:solidFill>
                  <a:srgbClr val="1E293B"/>
                </a:solidFill>
                <a:latin typeface="Segoe UI"/>
              </a:rPr>
              <a:t>The LW Timeframe lookup (Label + Start/End dates) plus the Timeline field on Targets, Action Plans, and Commitments place every record on short/medium/long. That is the model's clock.</a:t>
            </a:r>
          </a:p>
          <a:p>
            <a:pPr algn="l">
              <a:spcBef>
                <a:spcPts val="1000"/>
              </a:spcBef>
              <a:spcAft>
                <a:spcPts val="200"/>
              </a:spcAft>
            </a:pPr>
            <a:r>
              <a:rPr sz="1250" b="1" i="0">
                <a:solidFill>
                  <a:srgbClr val="003366"/>
                </a:solidFill>
                <a:latin typeface="Segoe UI"/>
              </a:rPr>
              <a:t>THE PAY-OFF</a:t>
            </a:r>
          </a:p>
          <a:p>
            <a:pPr algn="l">
              <a:spcBef>
                <a:spcPts val="400"/>
              </a:spcBef>
              <a:spcAft>
                <a:spcPts val="200"/>
              </a:spcAft>
            </a:pPr>
            <a:r>
              <a:rPr sz="1150" b="0" i="0">
                <a:solidFill>
                  <a:srgbClr val="1E293B"/>
                </a:solidFill>
                <a:latin typeface="Segoe UI"/>
              </a:rPr>
              <a:t>Read short-term health today → forecast medium-term outcomes → protect the long-term targets. That forecasting is precisely how monitoring 'directs' the economy rather than just recording it.</a:t>
            </a:r>
          </a:p>
        </p:txBody>
      </p:sp>
      <p:sp>
        <p:nvSpPr>
          <p:cNvPr id="6" name="TextBox 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7" name="TextBox 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THE MECHANISM</a:t>
            </a:r>
          </a:p>
          <a:p>
            <a:pPr algn="l">
              <a:spcBef>
                <a:spcPts val="0"/>
              </a:spcBef>
              <a:spcAft>
                <a:spcPts val="200"/>
              </a:spcAft>
            </a:pPr>
            <a:r>
              <a:rPr sz="2200" b="1" i="0">
                <a:solidFill>
                  <a:srgbClr val="FFFFFF"/>
                </a:solidFill>
                <a:latin typeface="Segoe UI"/>
              </a:rPr>
              <a:t>The feedback loop — how monitoring steers, not just records</a:t>
            </a:r>
          </a:p>
        </p:txBody>
      </p:sp>
      <p:sp>
        <p:nvSpPr>
          <p:cNvPr id="5" name="Rounded Rectangle 4"/>
          <p:cNvSpPr/>
          <p:nvPr/>
        </p:nvSpPr>
        <p:spPr>
          <a:xfrm>
            <a:off x="502920" y="1554480"/>
            <a:ext cx="2084831" cy="1554480"/>
          </a:xfrm>
          <a:prstGeom prst="roundRect">
            <a:avLst/>
          </a:prstGeom>
          <a:solidFill>
            <a:srgbClr val="5B3FB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400"/>
              </a:spcAft>
            </a:pPr>
            <a:r>
              <a:rPr sz="1250" b="1" i="0">
                <a:solidFill>
                  <a:srgbClr val="FCBA19"/>
                </a:solidFill>
                <a:latin typeface="Segoe UI"/>
              </a:rPr>
              <a:t>1 · ACT</a:t>
            </a:r>
          </a:p>
          <a:p>
            <a:pPr algn="ctr">
              <a:spcBef>
                <a:spcPts val="0"/>
              </a:spcBef>
              <a:spcAft>
                <a:spcPts val="200"/>
              </a:spcAft>
            </a:pPr>
            <a:r>
              <a:rPr sz="950" b="0" i="0">
                <a:solidFill>
                  <a:srgbClr val="FFFFFF"/>
                </a:solidFill>
                <a:latin typeface="Segoe UI"/>
              </a:rPr>
              <a:t>Deploy instruments — fund, legislate, build, attract, plan.</a:t>
            </a:r>
          </a:p>
        </p:txBody>
      </p:sp>
      <p:sp>
        <p:nvSpPr>
          <p:cNvPr id="6" name="Right Arrow 5"/>
          <p:cNvSpPr/>
          <p:nvPr/>
        </p:nvSpPr>
        <p:spPr>
          <a:xfrm>
            <a:off x="2569464" y="2203703"/>
            <a:ext cx="118872" cy="256032"/>
          </a:xfrm>
          <a:prstGeom prst="right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70048" y="1554480"/>
            <a:ext cx="2084831" cy="1554480"/>
          </a:xfrm>
          <a:prstGeom prst="roundRect">
            <a:avLst/>
          </a:prstGeom>
          <a:solidFill>
            <a:srgbClr val="2563E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400"/>
              </a:spcAft>
            </a:pPr>
            <a:r>
              <a:rPr sz="1250" b="1" i="0">
                <a:solidFill>
                  <a:srgbClr val="FCBA19"/>
                </a:solidFill>
                <a:latin typeface="Segoe UI"/>
              </a:rPr>
              <a:t>2 · TRACK</a:t>
            </a:r>
          </a:p>
          <a:p>
            <a:pPr algn="ctr">
              <a:spcBef>
                <a:spcPts val="0"/>
              </a:spcBef>
              <a:spcAft>
                <a:spcPts val="200"/>
              </a:spcAft>
            </a:pPr>
            <a:r>
              <a:rPr sz="950" b="0" i="0">
                <a:solidFill>
                  <a:srgbClr val="FFFFFF"/>
                </a:solidFill>
                <a:latin typeface="Segoe UI"/>
              </a:rPr>
              <a:t>Trackers + announcements capture the outputs as evidence.</a:t>
            </a:r>
          </a:p>
        </p:txBody>
      </p:sp>
      <p:sp>
        <p:nvSpPr>
          <p:cNvPr id="8" name="Right Arrow 7"/>
          <p:cNvSpPr/>
          <p:nvPr/>
        </p:nvSpPr>
        <p:spPr>
          <a:xfrm>
            <a:off x="4736592" y="2203703"/>
            <a:ext cx="118872" cy="256032"/>
          </a:xfrm>
          <a:prstGeom prst="right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37175" y="1554480"/>
            <a:ext cx="2084831" cy="1554480"/>
          </a:xfrm>
          <a:prstGeom prst="roundRect">
            <a:avLst/>
          </a:prstGeom>
          <a:solidFill>
            <a:srgbClr val="0E7A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400"/>
              </a:spcAft>
            </a:pPr>
            <a:r>
              <a:rPr sz="1250" b="1" i="0">
                <a:solidFill>
                  <a:srgbClr val="FCBA19"/>
                </a:solidFill>
                <a:latin typeface="Segoe UI"/>
              </a:rPr>
              <a:t>3 · MEASURE</a:t>
            </a:r>
          </a:p>
          <a:p>
            <a:pPr algn="ctr">
              <a:spcBef>
                <a:spcPts val="0"/>
              </a:spcBef>
              <a:spcAft>
                <a:spcPts val="200"/>
              </a:spcAft>
            </a:pPr>
            <a:r>
              <a:rPr sz="950" b="0" i="0">
                <a:solidFill>
                  <a:srgbClr val="FFFFFF"/>
                </a:solidFill>
                <a:latin typeface="Segoe UI"/>
              </a:rPr>
              <a:t>Metrics &amp; Progress % show movement toward each target.</a:t>
            </a:r>
          </a:p>
        </p:txBody>
      </p:sp>
      <p:sp>
        <p:nvSpPr>
          <p:cNvPr id="10" name="Right Arrow 9"/>
          <p:cNvSpPr/>
          <p:nvPr/>
        </p:nvSpPr>
        <p:spPr>
          <a:xfrm>
            <a:off x="6903719" y="2203703"/>
            <a:ext cx="118872" cy="256032"/>
          </a:xfrm>
          <a:prstGeom prst="right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04303" y="1554480"/>
            <a:ext cx="2084831" cy="1554480"/>
          </a:xfrm>
          <a:prstGeom prst="roundRect">
            <a:avLst/>
          </a:prstGeom>
          <a:solidFill>
            <a:srgbClr val="B4540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400"/>
              </a:spcAft>
            </a:pPr>
            <a:r>
              <a:rPr sz="1250" b="1" i="0">
                <a:solidFill>
                  <a:srgbClr val="FCBA19"/>
                </a:solidFill>
                <a:latin typeface="Segoe UI"/>
              </a:rPr>
              <a:t>4 · DETECT</a:t>
            </a:r>
          </a:p>
          <a:p>
            <a:pPr algn="ctr">
              <a:spcBef>
                <a:spcPts val="0"/>
              </a:spcBef>
              <a:spcAft>
                <a:spcPts val="200"/>
              </a:spcAft>
            </a:pPr>
            <a:r>
              <a:rPr sz="950" b="0" i="0">
                <a:solidFill>
                  <a:srgbClr val="FFFFFF"/>
                </a:solidFill>
                <a:latin typeface="Segoe UI"/>
              </a:rPr>
              <a:t>Gaps surface: Data Gaps, 'At Risk' goals, off-pace targets.</a:t>
            </a:r>
          </a:p>
        </p:txBody>
      </p:sp>
      <p:sp>
        <p:nvSpPr>
          <p:cNvPr id="12" name="Right Arrow 11"/>
          <p:cNvSpPr/>
          <p:nvPr/>
        </p:nvSpPr>
        <p:spPr>
          <a:xfrm>
            <a:off x="9070848" y="2203703"/>
            <a:ext cx="118872" cy="256032"/>
          </a:xfrm>
          <a:prstGeom prst="rightArrow">
            <a:avLst/>
          </a:prstGeom>
          <a:solidFill>
            <a:srgbClr val="5F7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71432" y="1554480"/>
            <a:ext cx="2084831" cy="1554480"/>
          </a:xfrm>
          <a:prstGeom prst="roundRect">
            <a:avLst/>
          </a:prstGeom>
          <a:solidFill>
            <a:srgbClr val="0033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400"/>
              </a:spcAft>
            </a:pPr>
            <a:r>
              <a:rPr sz="1250" b="1" i="0">
                <a:solidFill>
                  <a:srgbClr val="FCBA19"/>
                </a:solidFill>
                <a:latin typeface="Segoe UI"/>
              </a:rPr>
              <a:t>5 · CORRECT</a:t>
            </a:r>
          </a:p>
          <a:p>
            <a:pPr algn="ctr">
              <a:spcBef>
                <a:spcPts val="0"/>
              </a:spcBef>
              <a:spcAft>
                <a:spcPts val="200"/>
              </a:spcAft>
            </a:pPr>
            <a:r>
              <a:rPr sz="950" b="0" i="0">
                <a:solidFill>
                  <a:srgbClr val="FFFFFF"/>
                </a:solidFill>
                <a:latin typeface="Segoe UI"/>
              </a:rPr>
              <a:t>Re-allocate — new funding, policy, or promotion where it's short.</a:t>
            </a:r>
          </a:p>
        </p:txBody>
      </p:sp>
      <p:sp>
        <p:nvSpPr>
          <p:cNvPr id="14" name="Rounded Rectangle 13"/>
          <p:cNvSpPr/>
          <p:nvPr/>
        </p:nvSpPr>
        <p:spPr>
          <a:xfrm>
            <a:off x="502920" y="3566160"/>
            <a:ext cx="10753343" cy="548640"/>
          </a:xfrm>
          <a:prstGeom prst="roundRect">
            <a:avLst/>
          </a:prstGeom>
          <a:solidFill>
            <a:srgbClr val="E9F1F9"/>
          </a:solidFill>
          <a:ln w="19050">
            <a:solidFill>
              <a:srgbClr val="FCBA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spcAft>
                <a:spcPts val="200"/>
              </a:spcAft>
            </a:pPr>
            <a:r>
              <a:rPr sz="1100" b="1" i="0">
                <a:solidFill>
                  <a:srgbClr val="003366"/>
                </a:solidFill>
                <a:latin typeface="Segoe UI"/>
              </a:rPr>
              <a:t>↺  Repeat every reporting cycle — the loop closes the distance to the committed targets, horizon by horizon.</a:t>
            </a:r>
          </a:p>
        </p:txBody>
      </p:sp>
      <p:sp>
        <p:nvSpPr>
          <p:cNvPr id="15" name="TextBox 14"/>
          <p:cNvSpPr txBox="1"/>
          <p:nvPr/>
        </p:nvSpPr>
        <p:spPr>
          <a:xfrm>
            <a:off x="502920" y="4343400"/>
            <a:ext cx="11155680" cy="822960"/>
          </a:xfrm>
          <a:prstGeom prst="rect">
            <a:avLst/>
          </a:prstGeom>
          <a:noFill/>
        </p:spPr>
        <p:txBody>
          <a:bodyPr wrap="square">
            <a:spAutoFit/>
          </a:bodyPr>
          <a:lstStyle/>
          <a:p>
            <a:pPr algn="l">
              <a:spcBef>
                <a:spcPts val="400"/>
              </a:spcBef>
              <a:spcAft>
                <a:spcPts val="200"/>
              </a:spcAft>
            </a:pPr>
            <a:r>
              <a:rPr sz="1100" b="0" i="1">
                <a:solidFill>
                  <a:srgbClr val="1E293B"/>
                </a:solidFill>
                <a:latin typeface="Segoe UI"/>
              </a:rPr>
              <a:t>Detect → Correct is the step that turns a dashboard into a steering wheel: the model exists so gaps are seen early enough to act on while horizons are still open.</a:t>
            </a:r>
          </a:p>
        </p:txBody>
      </p:sp>
      <p:sp>
        <p:nvSpPr>
          <p:cNvPr id="16" name="TextBox 1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17" name="TextBox 1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WORKED EXAMPLE</a:t>
            </a:r>
          </a:p>
          <a:p>
            <a:pPr algn="l">
              <a:spcBef>
                <a:spcPts val="0"/>
              </a:spcBef>
              <a:spcAft>
                <a:spcPts val="200"/>
              </a:spcAft>
            </a:pPr>
            <a:r>
              <a:rPr sz="2200" b="1" i="0">
                <a:solidFill>
                  <a:srgbClr val="FFFFFF"/>
                </a:solidFill>
                <a:latin typeface="Segoe UI"/>
              </a:rPr>
              <a:t>One thread end-to-end — "Delivering Major Projects Faster"</a:t>
            </a:r>
          </a:p>
        </p:txBody>
      </p:sp>
      <p:sp>
        <p:nvSpPr>
          <p:cNvPr id="5" name="TextBox 4"/>
          <p:cNvSpPr txBox="1"/>
          <p:nvPr/>
        </p:nvSpPr>
        <p:spPr>
          <a:xfrm>
            <a:off x="502920" y="1280160"/>
            <a:ext cx="61264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INSTRUMENT (SHORT-TERM)</a:t>
            </a:r>
          </a:p>
          <a:p>
            <a:pPr algn="l">
              <a:spcBef>
                <a:spcPts val="400"/>
              </a:spcBef>
              <a:spcAft>
                <a:spcPts val="200"/>
              </a:spcAft>
            </a:pPr>
            <a:r>
              <a:rPr sz="1150" b="0" i="0">
                <a:solidFill>
                  <a:srgbClr val="1E293B"/>
                </a:solidFill>
                <a:latin typeface="Segoe UI"/>
              </a:rPr>
              <a:t>Policy &amp; Regulations entries accelerate permitting; Infrastructure and Major Projects are initiated. Action-plan commitments set the pace.</a:t>
            </a:r>
          </a:p>
          <a:p>
            <a:pPr algn="l">
              <a:spcBef>
                <a:spcPts val="1000"/>
              </a:spcBef>
              <a:spcAft>
                <a:spcPts val="200"/>
              </a:spcAft>
            </a:pPr>
            <a:r>
              <a:rPr sz="1250" b="1" i="0">
                <a:solidFill>
                  <a:srgbClr val="003366"/>
                </a:solidFill>
                <a:latin typeface="Segoe UI"/>
              </a:rPr>
              <a:t>OUTPUT (SHORT→MEDIUM)</a:t>
            </a:r>
          </a:p>
          <a:p>
            <a:pPr algn="l">
              <a:spcBef>
                <a:spcPts val="400"/>
              </a:spcBef>
              <a:spcAft>
                <a:spcPts val="200"/>
              </a:spcAft>
            </a:pPr>
            <a:r>
              <a:rPr sz="1150" b="0" i="0">
                <a:solidFill>
                  <a:srgbClr val="1E293B"/>
                </a:solidFill>
                <a:latin typeface="Segoe UI"/>
              </a:rPr>
              <a:t>Major Project Tracker logs milestones and completion %; Funding &amp; Investment-Promotion trackers log dollars attracted; announcements evidence each step.</a:t>
            </a:r>
          </a:p>
          <a:p>
            <a:pPr algn="l">
              <a:spcBef>
                <a:spcPts val="1000"/>
              </a:spcBef>
              <a:spcAft>
                <a:spcPts val="200"/>
              </a:spcAft>
            </a:pPr>
            <a:r>
              <a:rPr sz="1250" b="1" i="0">
                <a:solidFill>
                  <a:srgbClr val="003366"/>
                </a:solidFill>
                <a:latin typeface="Segoe UI"/>
              </a:rPr>
              <a:t>INTERMEDIATE OUTCOME (MEDIUM)</a:t>
            </a:r>
          </a:p>
          <a:p>
            <a:pPr algn="l">
              <a:spcBef>
                <a:spcPts val="400"/>
              </a:spcBef>
              <a:spcAft>
                <a:spcPts val="200"/>
              </a:spcAft>
            </a:pPr>
            <a:r>
              <a:rPr sz="1150" b="0" i="0">
                <a:solidFill>
                  <a:srgbClr val="1E293B"/>
                </a:solidFill>
                <a:latin typeface="Segoe UI"/>
              </a:rPr>
              <a:t>Investment Attracted ($M) and Jobs Created/Protected accumulate; Target Progress % climbs (e.g. $88–89B of projects moving forward).</a:t>
            </a:r>
          </a:p>
          <a:p>
            <a:pPr algn="l">
              <a:spcBef>
                <a:spcPts val="1000"/>
              </a:spcBef>
              <a:spcAft>
                <a:spcPts val="200"/>
              </a:spcAft>
            </a:pPr>
            <a:r>
              <a:rPr sz="1250" b="1" i="0">
                <a:solidFill>
                  <a:srgbClr val="003366"/>
                </a:solidFill>
                <a:latin typeface="Segoe UI"/>
              </a:rPr>
              <a:t>STRATEGIC TARGET → ULTIMATE (LONG)</a:t>
            </a:r>
          </a:p>
          <a:p>
            <a:pPr algn="l">
              <a:spcBef>
                <a:spcPts val="400"/>
              </a:spcBef>
              <a:spcAft>
                <a:spcPts val="200"/>
              </a:spcAft>
            </a:pPr>
            <a:r>
              <a:rPr sz="1150" b="0" i="0">
                <a:solidFill>
                  <a:srgbClr val="1E293B"/>
                </a:solidFill>
                <a:latin typeface="Segoe UI"/>
              </a:rPr>
              <a:t>Project value compounds toward the $200B-by-2035 commitment; the sustained build-out lifts the targeted sectors and the employment base.</a:t>
            </a:r>
          </a:p>
          <a:p>
            <a:pPr algn="l">
              <a:spcBef>
                <a:spcPts val="1000"/>
              </a:spcBef>
              <a:spcAft>
                <a:spcPts val="200"/>
              </a:spcAft>
            </a:pPr>
            <a:r>
              <a:rPr sz="1250" b="1" i="0">
                <a:solidFill>
                  <a:srgbClr val="003366"/>
                </a:solidFill>
                <a:latin typeface="Segoe UI"/>
              </a:rPr>
              <a:t>WHAT COULD BREAK IT — AND HOW WE'D SEE IT</a:t>
            </a:r>
          </a:p>
          <a:p>
            <a:pPr algn="l">
              <a:spcBef>
                <a:spcPts val="400"/>
              </a:spcBef>
              <a:spcAft>
                <a:spcPts val="200"/>
              </a:spcAft>
            </a:pPr>
            <a:r>
              <a:rPr sz="1150" b="0" i="0">
                <a:solidFill>
                  <a:srgbClr val="1E293B"/>
                </a:solidFill>
                <a:latin typeface="Segoe UI"/>
              </a:rPr>
              <a:t>If permits stall, the short-term output metrics flatten first. The Monitor flags it (off-pace target, 'at risk') long before the 2035 number is at risk — enabling a correction.</a:t>
            </a:r>
          </a:p>
        </p:txBody>
      </p:sp>
      <p:sp>
        <p:nvSpPr>
          <p:cNvPr id="6" name="Rounded Rectangle 5"/>
          <p:cNvSpPr/>
          <p:nvPr/>
        </p:nvSpPr>
        <p:spPr>
          <a:xfrm>
            <a:off x="6858000" y="1371600"/>
            <a:ext cx="4800600" cy="4709160"/>
          </a:xfrm>
          <a:prstGeom prst="roundRect">
            <a:avLst/>
          </a:prstGeom>
          <a:solidFill>
            <a:srgbClr val="F3F6FA"/>
          </a:solidFill>
          <a:ln w="19050">
            <a:solidFill>
              <a:srgbClr val="5F73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spcAft>
                <a:spcPts val="500"/>
              </a:spcAft>
            </a:pPr>
            <a:r>
              <a:rPr sz="1200" b="1" i="0">
                <a:solidFill>
                  <a:srgbClr val="003366"/>
                </a:solidFill>
                <a:latin typeface="Segoe UI"/>
              </a:rPr>
              <a:t>SCREENSHOT PLACEHOLDER</a:t>
            </a:r>
          </a:p>
          <a:p>
            <a:pPr algn="ctr">
              <a:spcBef>
                <a:spcPts val="400"/>
              </a:spcBef>
              <a:spcAft>
                <a:spcPts val="200"/>
              </a:spcAft>
            </a:pPr>
            <a:r>
              <a:rPr sz="1000" b="0" i="1">
                <a:solidFill>
                  <a:srgbClr val="5F7388"/>
                </a:solidFill>
                <a:latin typeface="Segoe UI"/>
              </a:rPr>
              <a:t>Capture: the Projects page (map + Investment/GDP by project) — this thread's outputs in the app.</a:t>
            </a:r>
          </a:p>
        </p:txBody>
      </p:sp>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PUTTING IT TOGETHER</a:t>
            </a:r>
          </a:p>
          <a:p>
            <a:pPr algn="l">
              <a:spcBef>
                <a:spcPts val="0"/>
              </a:spcBef>
              <a:spcAft>
                <a:spcPts val="200"/>
              </a:spcAft>
            </a:pPr>
            <a:r>
              <a:rPr sz="2200" b="1" i="0">
                <a:solidFill>
                  <a:srgbClr val="FFFFFF"/>
                </a:solidFill>
                <a:latin typeface="Segoe UI"/>
              </a:rPr>
              <a:t>How each dashboard page maps to the model</a:t>
            </a:r>
          </a:p>
        </p:txBody>
      </p:sp>
      <p:sp>
        <p:nvSpPr>
          <p:cNvPr id="5" name="TextBox 4"/>
          <p:cNvSpPr txBox="1"/>
          <p:nvPr/>
        </p:nvSpPr>
        <p:spPr>
          <a:xfrm>
            <a:off x="502920" y="1207008"/>
            <a:ext cx="11155680" cy="457200"/>
          </a:xfrm>
          <a:prstGeom prst="rect">
            <a:avLst/>
          </a:prstGeom>
          <a:noFill/>
        </p:spPr>
        <p:txBody>
          <a:bodyPr wrap="square">
            <a:spAutoFit/>
          </a:bodyPr>
          <a:lstStyle/>
          <a:p>
            <a:pPr algn="l">
              <a:spcBef>
                <a:spcPts val="400"/>
              </a:spcBef>
              <a:spcAft>
                <a:spcPts val="200"/>
              </a:spcAft>
            </a:pPr>
            <a:r>
              <a:rPr sz="1100" b="0" i="1">
                <a:solidFill>
                  <a:srgbClr val="5F7388"/>
                </a:solidFill>
                <a:latin typeface="Segoe UI"/>
              </a:rPr>
              <a:t>Every page is a window onto one or more layers of the results chain, at a specific horizon.</a:t>
            </a:r>
          </a:p>
        </p:txBody>
      </p:sp>
      <p:graphicFrame>
        <p:nvGraphicFramePr>
          <p:cNvPr id="6" name="Table 5"/>
          <p:cNvGraphicFramePr>
            <a:graphicFrameLocks noGrp="1"/>
          </p:cNvGraphicFramePr>
          <p:nvPr/>
        </p:nvGraphicFramePr>
        <p:xfrm>
          <a:off x="502920" y="1737360"/>
          <a:ext cx="11155680" cy="2926080"/>
        </p:xfrm>
        <a:graphic>
          <a:graphicData uri="http://schemas.openxmlformats.org/drawingml/2006/table">
            <a:tbl>
              <a:tblPr firstRow="1" bandRow="1">
                <a:tableStyleId>{5C22544A-7EE6-4342-B048-85BDC9FD1C3A}</a:tableStyleId>
              </a:tblPr>
              <a:tblGrid>
                <a:gridCol w="2743200"/>
                <a:gridCol w="3108960"/>
                <a:gridCol w="1737360"/>
                <a:gridCol w="3566160"/>
              </a:tblGrid>
              <a:tr h="365760">
                <a:tc>
                  <a:txBody>
                    <a:bodyPr/>
                    <a:lstStyle/>
                    <a:p>
                      <a:r>
                        <a:rPr sz="1000" b="1">
                          <a:solidFill>
                            <a:srgbClr val="FFFFFF"/>
                          </a:solidFill>
                          <a:latin typeface="Segoe UI"/>
                        </a:rPr>
                        <a:t>Dashboard page</a:t>
                      </a:r>
                    </a:p>
                  </a:txBody>
                  <a:tcPr>
                    <a:solidFill>
                      <a:srgbClr val="003366"/>
                    </a:solidFill>
                  </a:tcPr>
                </a:tc>
                <a:tc>
                  <a:txBody>
                    <a:bodyPr/>
                    <a:lstStyle/>
                    <a:p>
                      <a:r>
                        <a:rPr sz="1000" b="1">
                          <a:solidFill>
                            <a:srgbClr val="FFFFFF"/>
                          </a:solidFill>
                          <a:latin typeface="Segoe UI"/>
                        </a:rPr>
                        <a:t>Model layer(s)</a:t>
                      </a:r>
                    </a:p>
                  </a:txBody>
                  <a:tcPr>
                    <a:solidFill>
                      <a:srgbClr val="003366"/>
                    </a:solidFill>
                  </a:tcPr>
                </a:tc>
                <a:tc>
                  <a:txBody>
                    <a:bodyPr/>
                    <a:lstStyle/>
                    <a:p>
                      <a:r>
                        <a:rPr sz="1000" b="1">
                          <a:solidFill>
                            <a:srgbClr val="FFFFFF"/>
                          </a:solidFill>
                          <a:latin typeface="Segoe UI"/>
                        </a:rPr>
                        <a:t>Horizon</a:t>
                      </a:r>
                    </a:p>
                  </a:txBody>
                  <a:tcPr>
                    <a:solidFill>
                      <a:srgbClr val="003366"/>
                    </a:solidFill>
                  </a:tcPr>
                </a:tc>
                <a:tc>
                  <a:txBody>
                    <a:bodyPr/>
                    <a:lstStyle/>
                    <a:p>
                      <a:r>
                        <a:rPr sz="1000" b="1">
                          <a:solidFill>
                            <a:srgbClr val="FFFFFF"/>
                          </a:solidFill>
                          <a:latin typeface="Segoe UI"/>
                        </a:rPr>
                        <a:t>Answers</a:t>
                      </a:r>
                    </a:p>
                  </a:txBody>
                  <a:tcPr>
                    <a:solidFill>
                      <a:srgbClr val="003366"/>
                    </a:solidFill>
                  </a:tcPr>
                </a:tc>
              </a:tr>
              <a:tr h="365760">
                <a:tc>
                  <a:txBody>
                    <a:bodyPr wrap="square"/>
                    <a:lstStyle/>
                    <a:p>
                      <a:r>
                        <a:rPr sz="950" b="1">
                          <a:solidFill>
                            <a:srgbClr val="003366"/>
                          </a:solidFill>
                          <a:latin typeface="Segoe UI"/>
                        </a:rPr>
                        <a:t>Snapshot (macro)</a:t>
                      </a:r>
                    </a:p>
                  </a:txBody>
                  <a:tcPr>
                    <a:solidFill>
                      <a:srgbClr val="E9F1F9"/>
                    </a:solidFill>
                  </a:tcPr>
                </a:tc>
                <a:tc>
                  <a:txBody>
                    <a:bodyPr wrap="square"/>
                    <a:lstStyle/>
                    <a:p>
                      <a:r>
                        <a:rPr sz="950" b="0">
                          <a:solidFill>
                            <a:srgbClr val="1E293B"/>
                          </a:solidFill>
                          <a:latin typeface="Segoe UI"/>
                        </a:rPr>
                        <a:t>Context around all layers</a:t>
                      </a:r>
                    </a:p>
                  </a:txBody>
                  <a:tcPr>
                    <a:solidFill>
                      <a:srgbClr val="E9F1F9"/>
                    </a:solidFill>
                  </a:tcPr>
                </a:tc>
                <a:tc>
                  <a:txBody>
                    <a:bodyPr wrap="square"/>
                    <a:lstStyle/>
                    <a:p>
                      <a:r>
                        <a:rPr sz="950" b="0">
                          <a:solidFill>
                            <a:srgbClr val="1E293B"/>
                          </a:solidFill>
                          <a:latin typeface="Segoe UI"/>
                        </a:rPr>
                        <a:t>All</a:t>
                      </a:r>
                    </a:p>
                  </a:txBody>
                  <a:tcPr>
                    <a:solidFill>
                      <a:srgbClr val="E9F1F9"/>
                    </a:solidFill>
                  </a:tcPr>
                </a:tc>
                <a:tc>
                  <a:txBody>
                    <a:bodyPr wrap="square"/>
                    <a:lstStyle/>
                    <a:p>
                      <a:r>
                        <a:rPr sz="950" b="0">
                          <a:solidFill>
                            <a:srgbClr val="1E293B"/>
                          </a:solidFill>
                          <a:latin typeface="Segoe UI"/>
                        </a:rPr>
                        <a:t>Is the broader economy moving?</a:t>
                      </a:r>
                    </a:p>
                  </a:txBody>
                  <a:tcPr>
                    <a:solidFill>
                      <a:srgbClr val="E9F1F9"/>
                    </a:solidFill>
                  </a:tcPr>
                </a:tc>
              </a:tr>
              <a:tr h="365760">
                <a:tc>
                  <a:txBody>
                    <a:bodyPr wrap="square"/>
                    <a:lstStyle/>
                    <a:p>
                      <a:r>
                        <a:rPr sz="950" b="1">
                          <a:solidFill>
                            <a:srgbClr val="003366"/>
                          </a:solidFill>
                          <a:latin typeface="Segoe UI"/>
                        </a:rPr>
                        <a:t>Strategy Monitor</a:t>
                      </a:r>
                    </a:p>
                  </a:txBody>
                  <a:tcPr>
                    <a:solidFill>
                      <a:srgbClr val="F3F6FA"/>
                    </a:solidFill>
                  </a:tcPr>
                </a:tc>
                <a:tc>
                  <a:txBody>
                    <a:bodyPr wrap="square"/>
                    <a:lstStyle/>
                    <a:p>
                      <a:r>
                        <a:rPr sz="950" b="0">
                          <a:solidFill>
                            <a:srgbClr val="1E293B"/>
                          </a:solidFill>
                          <a:latin typeface="Segoe UI"/>
                        </a:rPr>
                        <a:t>Instruments · Outputs · Targets</a:t>
                      </a:r>
                    </a:p>
                  </a:txBody>
                  <a:tcPr>
                    <a:solidFill>
                      <a:srgbClr val="F3F6FA"/>
                    </a:solidFill>
                  </a:tcPr>
                </a:tc>
                <a:tc>
                  <a:txBody>
                    <a:bodyPr wrap="square"/>
                    <a:lstStyle/>
                    <a:p>
                      <a:r>
                        <a:rPr sz="950" b="0">
                          <a:solidFill>
                            <a:srgbClr val="1E293B"/>
                          </a:solidFill>
                          <a:latin typeface="Segoe UI"/>
                        </a:rPr>
                        <a:t>Short → Long</a:t>
                      </a:r>
                    </a:p>
                  </a:txBody>
                  <a:tcPr>
                    <a:solidFill>
                      <a:srgbClr val="F3F6FA"/>
                    </a:solidFill>
                  </a:tcPr>
                </a:tc>
                <a:tc>
                  <a:txBody>
                    <a:bodyPr wrap="square"/>
                    <a:lstStyle/>
                    <a:p>
                      <a:r>
                        <a:rPr sz="950" b="0">
                          <a:solidFill>
                            <a:srgbClr val="1E293B"/>
                          </a:solidFill>
                          <a:latin typeface="Segoe UI"/>
                        </a:rPr>
                        <a:t>Are we mobilizing jobs, money &amp; goals?</a:t>
                      </a:r>
                    </a:p>
                  </a:txBody>
                  <a:tcPr>
                    <a:solidFill>
                      <a:srgbClr val="F3F6FA"/>
                    </a:solidFill>
                  </a:tcPr>
                </a:tc>
              </a:tr>
              <a:tr h="365760">
                <a:tc>
                  <a:txBody>
                    <a:bodyPr wrap="square"/>
                    <a:lstStyle/>
                    <a:p>
                      <a:r>
                        <a:rPr sz="950" b="1">
                          <a:solidFill>
                            <a:srgbClr val="003366"/>
                          </a:solidFill>
                          <a:latin typeface="Segoe UI"/>
                        </a:rPr>
                        <a:t>Goals Tracker</a:t>
                      </a:r>
                    </a:p>
                  </a:txBody>
                  <a:tcPr>
                    <a:solidFill>
                      <a:srgbClr val="E9F1F9"/>
                    </a:solidFill>
                  </a:tcPr>
                </a:tc>
                <a:tc>
                  <a:txBody>
                    <a:bodyPr wrap="square"/>
                    <a:lstStyle/>
                    <a:p>
                      <a:r>
                        <a:rPr sz="950" b="0">
                          <a:solidFill>
                            <a:srgbClr val="1E293B"/>
                          </a:solidFill>
                          <a:latin typeface="Segoe UI"/>
                        </a:rPr>
                        <a:t>Intermediate outcomes</a:t>
                      </a:r>
                    </a:p>
                  </a:txBody>
                  <a:tcPr>
                    <a:solidFill>
                      <a:srgbClr val="E9F1F9"/>
                    </a:solidFill>
                  </a:tcPr>
                </a:tc>
                <a:tc>
                  <a:txBody>
                    <a:bodyPr wrap="square"/>
                    <a:lstStyle/>
                    <a:p>
                      <a:r>
                        <a:rPr sz="950" b="0">
                          <a:solidFill>
                            <a:srgbClr val="1E293B"/>
                          </a:solidFill>
                          <a:latin typeface="Segoe UI"/>
                        </a:rPr>
                        <a:t>Medium</a:t>
                      </a:r>
                    </a:p>
                  </a:txBody>
                  <a:tcPr>
                    <a:solidFill>
                      <a:srgbClr val="E9F1F9"/>
                    </a:solidFill>
                  </a:tcPr>
                </a:tc>
                <a:tc>
                  <a:txBody>
                    <a:bodyPr wrap="square"/>
                    <a:lstStyle/>
                    <a:p>
                      <a:r>
                        <a:rPr sz="950" b="0">
                          <a:solidFill>
                            <a:srgbClr val="1E293B"/>
                          </a:solidFill>
                          <a:latin typeface="Segoe UI"/>
                        </a:rPr>
                        <a:t>Are goal metrics on track vs plan?</a:t>
                      </a:r>
                    </a:p>
                  </a:txBody>
                  <a:tcPr>
                    <a:solidFill>
                      <a:srgbClr val="E9F1F9"/>
                    </a:solidFill>
                  </a:tcPr>
                </a:tc>
              </a:tr>
              <a:tr h="365760">
                <a:tc>
                  <a:txBody>
                    <a:bodyPr wrap="square"/>
                    <a:lstStyle/>
                    <a:p>
                      <a:r>
                        <a:rPr sz="950" b="1">
                          <a:solidFill>
                            <a:srgbClr val="003366"/>
                          </a:solidFill>
                          <a:latin typeface="Segoe UI"/>
                        </a:rPr>
                        <a:t>Targets Tracker</a:t>
                      </a:r>
                    </a:p>
                  </a:txBody>
                  <a:tcPr>
                    <a:solidFill>
                      <a:srgbClr val="F3F6FA"/>
                    </a:solidFill>
                  </a:tcPr>
                </a:tc>
                <a:tc>
                  <a:txBody>
                    <a:bodyPr wrap="square"/>
                    <a:lstStyle/>
                    <a:p>
                      <a:r>
                        <a:rPr sz="950" b="0">
                          <a:solidFill>
                            <a:srgbClr val="1E293B"/>
                          </a:solidFill>
                          <a:latin typeface="Segoe UI"/>
                        </a:rPr>
                        <a:t>Strategic targets</a:t>
                      </a:r>
                    </a:p>
                  </a:txBody>
                  <a:tcPr>
                    <a:solidFill>
                      <a:srgbClr val="F3F6FA"/>
                    </a:solidFill>
                  </a:tcPr>
                </a:tc>
                <a:tc>
                  <a:txBody>
                    <a:bodyPr wrap="square"/>
                    <a:lstStyle/>
                    <a:p>
                      <a:r>
                        <a:rPr sz="950" b="0">
                          <a:solidFill>
                            <a:srgbClr val="1E293B"/>
                          </a:solidFill>
                          <a:latin typeface="Segoe UI"/>
                        </a:rPr>
                        <a:t>Medium → Long</a:t>
                      </a:r>
                    </a:p>
                  </a:txBody>
                  <a:tcPr>
                    <a:solidFill>
                      <a:srgbClr val="F3F6FA"/>
                    </a:solidFill>
                  </a:tcPr>
                </a:tc>
                <a:tc>
                  <a:txBody>
                    <a:bodyPr wrap="square"/>
                    <a:lstStyle/>
                    <a:p>
                      <a:r>
                        <a:rPr sz="950" b="0">
                          <a:solidFill>
                            <a:srgbClr val="1E293B"/>
                          </a:solidFill>
                          <a:latin typeface="Segoe UI"/>
                        </a:rPr>
                        <a:t>Progress from baseline to target value?</a:t>
                      </a:r>
                    </a:p>
                  </a:txBody>
                  <a:tcPr>
                    <a:solidFill>
                      <a:srgbClr val="F3F6FA"/>
                    </a:solidFill>
                  </a:tcPr>
                </a:tc>
              </a:tr>
              <a:tr h="365760">
                <a:tc>
                  <a:txBody>
                    <a:bodyPr wrap="square"/>
                    <a:lstStyle/>
                    <a:p>
                      <a:r>
                        <a:rPr sz="950" b="1">
                          <a:solidFill>
                            <a:srgbClr val="003366"/>
                          </a:solidFill>
                          <a:latin typeface="Segoe UI"/>
                        </a:rPr>
                        <a:t>Funding / Infra / IP trackers</a:t>
                      </a:r>
                    </a:p>
                  </a:txBody>
                  <a:tcPr>
                    <a:solidFill>
                      <a:srgbClr val="E9F1F9"/>
                    </a:solidFill>
                  </a:tcPr>
                </a:tc>
                <a:tc>
                  <a:txBody>
                    <a:bodyPr wrap="square"/>
                    <a:lstStyle/>
                    <a:p>
                      <a:r>
                        <a:rPr sz="950" b="0">
                          <a:solidFill>
                            <a:srgbClr val="1E293B"/>
                          </a:solidFill>
                          <a:latin typeface="Segoe UI"/>
                        </a:rPr>
                        <a:t>Instruments → Outputs</a:t>
                      </a:r>
                    </a:p>
                  </a:txBody>
                  <a:tcPr>
                    <a:solidFill>
                      <a:srgbClr val="E9F1F9"/>
                    </a:solidFill>
                  </a:tcPr>
                </a:tc>
                <a:tc>
                  <a:txBody>
                    <a:bodyPr wrap="square"/>
                    <a:lstStyle/>
                    <a:p>
                      <a:r>
                        <a:rPr sz="950" b="0">
                          <a:solidFill>
                            <a:srgbClr val="1E293B"/>
                          </a:solidFill>
                          <a:latin typeface="Segoe UI"/>
                        </a:rPr>
                        <a:t>Short → Medium</a:t>
                      </a:r>
                    </a:p>
                  </a:txBody>
                  <a:tcPr>
                    <a:solidFill>
                      <a:srgbClr val="E9F1F9"/>
                    </a:solidFill>
                  </a:tcPr>
                </a:tc>
                <a:tc>
                  <a:txBody>
                    <a:bodyPr wrap="square"/>
                    <a:lstStyle/>
                    <a:p>
                      <a:r>
                        <a:rPr sz="950" b="0">
                          <a:solidFill>
                            <a:srgbClr val="1E293B"/>
                          </a:solidFill>
                          <a:latin typeface="Segoe UI"/>
                        </a:rPr>
                        <a:t>Is committed money actually flowing?</a:t>
                      </a:r>
                    </a:p>
                  </a:txBody>
                  <a:tcPr>
                    <a:solidFill>
                      <a:srgbClr val="E9F1F9"/>
                    </a:solidFill>
                  </a:tcPr>
                </a:tc>
              </a:tr>
              <a:tr h="365760">
                <a:tc>
                  <a:txBody>
                    <a:bodyPr wrap="square"/>
                    <a:lstStyle/>
                    <a:p>
                      <a:r>
                        <a:rPr sz="950" b="1">
                          <a:solidFill>
                            <a:srgbClr val="003366"/>
                          </a:solidFill>
                          <a:latin typeface="Segoe UI"/>
                        </a:rPr>
                        <a:t>Projects</a:t>
                      </a:r>
                    </a:p>
                  </a:txBody>
                  <a:tcPr>
                    <a:solidFill>
                      <a:srgbClr val="F3F6FA"/>
                    </a:solidFill>
                  </a:tcPr>
                </a:tc>
                <a:tc>
                  <a:txBody>
                    <a:bodyPr wrap="square"/>
                    <a:lstStyle/>
                    <a:p>
                      <a:r>
                        <a:rPr sz="950" b="0">
                          <a:solidFill>
                            <a:srgbClr val="1E293B"/>
                          </a:solidFill>
                          <a:latin typeface="Segoe UI"/>
                        </a:rPr>
                        <a:t>Instruments → Ultimate</a:t>
                      </a:r>
                    </a:p>
                  </a:txBody>
                  <a:tcPr>
                    <a:solidFill>
                      <a:srgbClr val="F3F6FA"/>
                    </a:solidFill>
                  </a:tcPr>
                </a:tc>
                <a:tc>
                  <a:txBody>
                    <a:bodyPr wrap="square"/>
                    <a:lstStyle/>
                    <a:p>
                      <a:r>
                        <a:rPr sz="950" b="0">
                          <a:solidFill>
                            <a:srgbClr val="1E293B"/>
                          </a:solidFill>
                          <a:latin typeface="Segoe UI"/>
                        </a:rPr>
                        <a:t>Medium → Long</a:t>
                      </a:r>
                    </a:p>
                  </a:txBody>
                  <a:tcPr>
                    <a:solidFill>
                      <a:srgbClr val="F3F6FA"/>
                    </a:solidFill>
                  </a:tcPr>
                </a:tc>
                <a:tc>
                  <a:txBody>
                    <a:bodyPr wrap="square"/>
                    <a:lstStyle/>
                    <a:p>
                      <a:r>
                        <a:rPr sz="950" b="0">
                          <a:solidFill>
                            <a:srgbClr val="1E293B"/>
                          </a:solidFill>
                          <a:latin typeface="Segoe UI"/>
                        </a:rPr>
                        <a:t>Is the major-project pipeline building the $200B?</a:t>
                      </a:r>
                    </a:p>
                  </a:txBody>
                  <a:tcPr>
                    <a:solidFill>
                      <a:srgbClr val="F3F6FA"/>
                    </a:solidFill>
                  </a:tcPr>
                </a:tc>
              </a:tr>
              <a:tr h="365760">
                <a:tc>
                  <a:txBody>
                    <a:bodyPr wrap="square"/>
                    <a:lstStyle/>
                    <a:p>
                      <a:r>
                        <a:rPr sz="950" b="1">
                          <a:solidFill>
                            <a:srgbClr val="003366"/>
                          </a:solidFill>
                          <a:latin typeface="Segoe UI"/>
                        </a:rPr>
                        <a:t>Sectors</a:t>
                      </a:r>
                    </a:p>
                  </a:txBody>
                  <a:tcPr>
                    <a:solidFill>
                      <a:srgbClr val="E9F1F9"/>
                    </a:solidFill>
                  </a:tcPr>
                </a:tc>
                <a:tc>
                  <a:txBody>
                    <a:bodyPr wrap="square"/>
                    <a:lstStyle/>
                    <a:p>
                      <a:r>
                        <a:rPr sz="950" b="0">
                          <a:solidFill>
                            <a:srgbClr val="1E293B"/>
                          </a:solidFill>
                          <a:latin typeface="Segoe UI"/>
                        </a:rPr>
                        <a:t>Outcomes (sector cut)</a:t>
                      </a:r>
                    </a:p>
                  </a:txBody>
                  <a:tcPr>
                    <a:solidFill>
                      <a:srgbClr val="E9F1F9"/>
                    </a:solidFill>
                  </a:tcPr>
                </a:tc>
                <a:tc>
                  <a:txBody>
                    <a:bodyPr wrap="square"/>
                    <a:lstStyle/>
                    <a:p>
                      <a:r>
                        <a:rPr sz="950" b="0">
                          <a:solidFill>
                            <a:srgbClr val="1E293B"/>
                          </a:solidFill>
                          <a:latin typeface="Segoe UI"/>
                        </a:rPr>
                        <a:t>Medium → Long</a:t>
                      </a:r>
                    </a:p>
                  </a:txBody>
                  <a:tcPr>
                    <a:solidFill>
                      <a:srgbClr val="E9F1F9"/>
                    </a:solidFill>
                  </a:tcPr>
                </a:tc>
                <a:tc>
                  <a:txBody>
                    <a:bodyPr wrap="square"/>
                    <a:lstStyle/>
                    <a:p>
                      <a:r>
                        <a:rPr sz="950" b="0">
                          <a:solidFill>
                            <a:srgbClr val="1E293B"/>
                          </a:solidFill>
                          <a:latin typeface="Segoe UI"/>
                        </a:rPr>
                        <a:t>Are targeted sectors growing?</a:t>
                      </a:r>
                    </a:p>
                  </a:txBody>
                  <a:tcPr>
                    <a:solidFill>
                      <a:srgbClr val="E9F1F9"/>
                    </a:solidFill>
                  </a:tcPr>
                </a:tc>
              </a:tr>
            </a:tbl>
          </a:graphicData>
        </a:graphic>
      </p:graphicFrame>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REFERENCE</a:t>
            </a:r>
          </a:p>
          <a:p>
            <a:pPr algn="l">
              <a:spcBef>
                <a:spcPts val="0"/>
              </a:spcBef>
              <a:spcAft>
                <a:spcPts val="200"/>
              </a:spcAft>
            </a:pPr>
            <a:r>
              <a:rPr sz="2200" b="1" i="0">
                <a:solidFill>
                  <a:srgbClr val="FFFFFF"/>
                </a:solidFill>
                <a:latin typeface="Segoe UI"/>
              </a:rPr>
              <a:t>The data model — entities by layer, horizon &amp; target link</a:t>
            </a:r>
          </a:p>
        </p:txBody>
      </p:sp>
      <p:sp>
        <p:nvSpPr>
          <p:cNvPr id="5" name="TextBox 4"/>
          <p:cNvSpPr txBox="1"/>
          <p:nvPr/>
        </p:nvSpPr>
        <p:spPr>
          <a:xfrm>
            <a:off x="502920" y="1207008"/>
            <a:ext cx="11155680" cy="457200"/>
          </a:xfrm>
          <a:prstGeom prst="rect">
            <a:avLst/>
          </a:prstGeom>
          <a:noFill/>
        </p:spPr>
        <p:txBody>
          <a:bodyPr wrap="square">
            <a:spAutoFit/>
          </a:bodyPr>
          <a:lstStyle/>
          <a:p>
            <a:pPr algn="l">
              <a:spcBef>
                <a:spcPts val="400"/>
              </a:spcBef>
              <a:spcAft>
                <a:spcPts val="200"/>
              </a:spcAft>
            </a:pPr>
            <a:r>
              <a:rPr sz="1100" b="0" i="1">
                <a:solidFill>
                  <a:srgbClr val="5F7388"/>
                </a:solidFill>
                <a:latin typeface="Segoe UI"/>
              </a:rPr>
              <a:t>All records share the Stream · Pillar · Theme · Sector · Region tags; IDs link each tracker to its parent entity.</a:t>
            </a:r>
          </a:p>
        </p:txBody>
      </p:sp>
      <p:graphicFrame>
        <p:nvGraphicFramePr>
          <p:cNvPr id="6" name="Table 5"/>
          <p:cNvGraphicFramePr>
            <a:graphicFrameLocks noGrp="1"/>
          </p:cNvGraphicFramePr>
          <p:nvPr/>
        </p:nvGraphicFramePr>
        <p:xfrm>
          <a:off x="502920" y="1737360"/>
          <a:ext cx="11155680" cy="3657600"/>
        </p:xfrm>
        <a:graphic>
          <a:graphicData uri="http://schemas.openxmlformats.org/drawingml/2006/table">
            <a:tbl>
              <a:tblPr firstRow="1" bandRow="1">
                <a:tableStyleId>{5C22544A-7EE6-4342-B048-85BDC9FD1C3A}</a:tableStyleId>
              </a:tblPr>
              <a:tblGrid>
                <a:gridCol w="3200400"/>
                <a:gridCol w="2377440"/>
                <a:gridCol w="2286000"/>
                <a:gridCol w="3291840"/>
              </a:tblGrid>
              <a:tr h="365760">
                <a:tc>
                  <a:txBody>
                    <a:bodyPr/>
                    <a:lstStyle/>
                    <a:p>
                      <a:r>
                        <a:rPr sz="1000" b="1">
                          <a:solidFill>
                            <a:srgbClr val="FFFFFF"/>
                          </a:solidFill>
                          <a:latin typeface="Segoe UI"/>
                        </a:rPr>
                        <a:t>Entity (dataset)</a:t>
                      </a:r>
                    </a:p>
                  </a:txBody>
                  <a:tcPr>
                    <a:solidFill>
                      <a:srgbClr val="003366"/>
                    </a:solidFill>
                  </a:tcPr>
                </a:tc>
                <a:tc>
                  <a:txBody>
                    <a:bodyPr/>
                    <a:lstStyle/>
                    <a:p>
                      <a:r>
                        <a:rPr sz="1000" b="1">
                          <a:solidFill>
                            <a:srgbClr val="FFFFFF"/>
                          </a:solidFill>
                          <a:latin typeface="Segoe UI"/>
                        </a:rPr>
                        <a:t>Layer</a:t>
                      </a:r>
                    </a:p>
                  </a:txBody>
                  <a:tcPr>
                    <a:solidFill>
                      <a:srgbClr val="003366"/>
                    </a:solidFill>
                  </a:tcPr>
                </a:tc>
                <a:tc>
                  <a:txBody>
                    <a:bodyPr/>
                    <a:lstStyle/>
                    <a:p>
                      <a:r>
                        <a:rPr sz="1000" b="1">
                          <a:solidFill>
                            <a:srgbClr val="FFFFFF"/>
                          </a:solidFill>
                          <a:latin typeface="Segoe UI"/>
                        </a:rPr>
                        <a:t>Horizon field</a:t>
                      </a:r>
                    </a:p>
                  </a:txBody>
                  <a:tcPr>
                    <a:solidFill>
                      <a:srgbClr val="003366"/>
                    </a:solidFill>
                  </a:tcPr>
                </a:tc>
                <a:tc>
                  <a:txBody>
                    <a:bodyPr/>
                    <a:lstStyle/>
                    <a:p>
                      <a:r>
                        <a:rPr sz="1000" b="1">
                          <a:solidFill>
                            <a:srgbClr val="FFFFFF"/>
                          </a:solidFill>
                          <a:latin typeface="Segoe UI"/>
                        </a:rPr>
                        <a:t>Drives toward</a:t>
                      </a:r>
                    </a:p>
                  </a:txBody>
                  <a:tcPr>
                    <a:solidFill>
                      <a:srgbClr val="003366"/>
                    </a:solidFill>
                  </a:tcPr>
                </a:tc>
              </a:tr>
              <a:tr h="365760">
                <a:tc>
                  <a:txBody>
                    <a:bodyPr wrap="square"/>
                    <a:lstStyle/>
                    <a:p>
                      <a:r>
                        <a:rPr sz="900" b="1">
                          <a:solidFill>
                            <a:srgbClr val="003366"/>
                          </a:solidFill>
                          <a:latin typeface="Segoe UI"/>
                        </a:rPr>
                        <a:t>Action Plans (+ Commitments)</a:t>
                      </a:r>
                    </a:p>
                  </a:txBody>
                  <a:tcPr>
                    <a:solidFill>
                      <a:srgbClr val="E9F1F9"/>
                    </a:solidFill>
                  </a:tcPr>
                </a:tc>
                <a:tc>
                  <a:txBody>
                    <a:bodyPr wrap="square"/>
                    <a:lstStyle/>
                    <a:p>
                      <a:r>
                        <a:rPr sz="900" b="0">
                          <a:solidFill>
                            <a:srgbClr val="1E293B"/>
                          </a:solidFill>
                          <a:latin typeface="Segoe UI"/>
                        </a:rPr>
                        <a:t>Instrument</a:t>
                      </a:r>
                    </a:p>
                  </a:txBody>
                  <a:tcPr>
                    <a:solidFill>
                      <a:srgbClr val="E9F1F9"/>
                    </a:solidFill>
                  </a:tcPr>
                </a:tc>
                <a:tc>
                  <a:txBody>
                    <a:bodyPr wrap="square"/>
                    <a:lstStyle/>
                    <a:p>
                      <a:r>
                        <a:rPr sz="900" b="0">
                          <a:solidFill>
                            <a:srgbClr val="1E293B"/>
                          </a:solidFill>
                          <a:latin typeface="Segoe UI"/>
                        </a:rPr>
                        <a:t>Timeline</a:t>
                      </a:r>
                    </a:p>
                  </a:txBody>
                  <a:tcPr>
                    <a:solidFill>
                      <a:srgbClr val="E9F1F9"/>
                    </a:solidFill>
                  </a:tcPr>
                </a:tc>
                <a:tc>
                  <a:txBody>
                    <a:bodyPr wrap="square"/>
                    <a:lstStyle/>
                    <a:p>
                      <a:r>
                        <a:rPr sz="900" b="0">
                          <a:solidFill>
                            <a:srgbClr val="1E293B"/>
                          </a:solidFill>
                          <a:latin typeface="Segoe UI"/>
                        </a:rPr>
                        <a:t>Pillar delivery</a:t>
                      </a:r>
                    </a:p>
                  </a:txBody>
                  <a:tcPr>
                    <a:solidFill>
                      <a:srgbClr val="E9F1F9"/>
                    </a:solidFill>
                  </a:tcPr>
                </a:tc>
              </a:tr>
              <a:tr h="365760">
                <a:tc>
                  <a:txBody>
                    <a:bodyPr wrap="square"/>
                    <a:lstStyle/>
                    <a:p>
                      <a:r>
                        <a:rPr sz="900" b="1">
                          <a:solidFill>
                            <a:srgbClr val="003366"/>
                          </a:solidFill>
                          <a:latin typeface="Segoe UI"/>
                        </a:rPr>
                        <a:t>Funding Programs (+ Tracker)</a:t>
                      </a:r>
                    </a:p>
                  </a:txBody>
                  <a:tcPr>
                    <a:solidFill>
                      <a:srgbClr val="F3F6FA"/>
                    </a:solidFill>
                  </a:tcPr>
                </a:tc>
                <a:tc>
                  <a:txBody>
                    <a:bodyPr wrap="square"/>
                    <a:lstStyle/>
                    <a:p>
                      <a:r>
                        <a:rPr sz="900" b="0">
                          <a:solidFill>
                            <a:srgbClr val="1E293B"/>
                          </a:solidFill>
                          <a:latin typeface="Segoe UI"/>
                        </a:rPr>
                        <a:t>Instrument→Output</a:t>
                      </a:r>
                    </a:p>
                  </a:txBody>
                  <a:tcPr>
                    <a:solidFill>
                      <a:srgbClr val="F3F6FA"/>
                    </a:solidFill>
                  </a:tcPr>
                </a:tc>
                <a:tc>
                  <a:txBody>
                    <a:bodyPr wrap="square"/>
                    <a:lstStyle/>
                    <a:p>
                      <a:r>
                        <a:rPr sz="900" b="0">
                          <a:solidFill>
                            <a:srgbClr val="1E293B"/>
                          </a:solidFill>
                          <a:latin typeface="Segoe UI"/>
                        </a:rPr>
                        <a:t>Start/End</a:t>
                      </a:r>
                    </a:p>
                  </a:txBody>
                  <a:tcPr>
                    <a:solidFill>
                      <a:srgbClr val="F3F6FA"/>
                    </a:solidFill>
                  </a:tcPr>
                </a:tc>
                <a:tc>
                  <a:txBody>
                    <a:bodyPr wrap="square"/>
                    <a:lstStyle/>
                    <a:p>
                      <a:r>
                        <a:rPr sz="900" b="0">
                          <a:solidFill>
                            <a:srgbClr val="1E293B"/>
                          </a:solidFill>
                          <a:latin typeface="Segoe UI"/>
                        </a:rPr>
                        <a:t>Investment &amp; jobs</a:t>
                      </a:r>
                    </a:p>
                  </a:txBody>
                  <a:tcPr>
                    <a:solidFill>
                      <a:srgbClr val="F3F6FA"/>
                    </a:solidFill>
                  </a:tcPr>
                </a:tc>
              </a:tr>
              <a:tr h="365760">
                <a:tc>
                  <a:txBody>
                    <a:bodyPr wrap="square"/>
                    <a:lstStyle/>
                    <a:p>
                      <a:r>
                        <a:rPr sz="900" b="1">
                          <a:solidFill>
                            <a:srgbClr val="003366"/>
                          </a:solidFill>
                          <a:latin typeface="Segoe UI"/>
                        </a:rPr>
                        <a:t>Policy &amp; Regulations (+ Tracker)</a:t>
                      </a:r>
                    </a:p>
                  </a:txBody>
                  <a:tcPr>
                    <a:solidFill>
                      <a:srgbClr val="E9F1F9"/>
                    </a:solidFill>
                  </a:tcPr>
                </a:tc>
                <a:tc>
                  <a:txBody>
                    <a:bodyPr wrap="square"/>
                    <a:lstStyle/>
                    <a:p>
                      <a:r>
                        <a:rPr sz="900" b="0">
                          <a:solidFill>
                            <a:srgbClr val="1E293B"/>
                          </a:solidFill>
                          <a:latin typeface="Segoe UI"/>
                        </a:rPr>
                        <a:t>Instrument→Output</a:t>
                      </a:r>
                    </a:p>
                  </a:txBody>
                  <a:tcPr>
                    <a:solidFill>
                      <a:srgbClr val="E9F1F9"/>
                    </a:solidFill>
                  </a:tcPr>
                </a:tc>
                <a:tc>
                  <a:txBody>
                    <a:bodyPr wrap="square"/>
                    <a:lstStyle/>
                    <a:p>
                      <a:r>
                        <a:rPr sz="900" b="0">
                          <a:solidFill>
                            <a:srgbClr val="1E293B"/>
                          </a:solidFill>
                          <a:latin typeface="Segoe UI"/>
                        </a:rPr>
                        <a:t>Effective Date</a:t>
                      </a:r>
                    </a:p>
                  </a:txBody>
                  <a:tcPr>
                    <a:solidFill>
                      <a:srgbClr val="E9F1F9"/>
                    </a:solidFill>
                  </a:tcPr>
                </a:tc>
                <a:tc>
                  <a:txBody>
                    <a:bodyPr wrap="square"/>
                    <a:lstStyle/>
                    <a:p>
                      <a:r>
                        <a:rPr sz="900" b="0">
                          <a:solidFill>
                            <a:srgbClr val="1E293B"/>
                          </a:solidFill>
                          <a:latin typeface="Segoe UI"/>
                        </a:rPr>
                        <a:t>Faster projects</a:t>
                      </a:r>
                    </a:p>
                  </a:txBody>
                  <a:tcPr>
                    <a:solidFill>
                      <a:srgbClr val="E9F1F9"/>
                    </a:solidFill>
                  </a:tcPr>
                </a:tc>
              </a:tr>
              <a:tr h="365760">
                <a:tc>
                  <a:txBody>
                    <a:bodyPr wrap="square"/>
                    <a:lstStyle/>
                    <a:p>
                      <a:r>
                        <a:rPr sz="900" b="1">
                          <a:solidFill>
                            <a:srgbClr val="003366"/>
                          </a:solidFill>
                          <a:latin typeface="Segoe UI"/>
                        </a:rPr>
                        <a:t>Infrastructure (+ Tracker)</a:t>
                      </a:r>
                    </a:p>
                  </a:txBody>
                  <a:tcPr>
                    <a:solidFill>
                      <a:srgbClr val="F3F6FA"/>
                    </a:solidFill>
                  </a:tcPr>
                </a:tc>
                <a:tc>
                  <a:txBody>
                    <a:bodyPr wrap="square"/>
                    <a:lstStyle/>
                    <a:p>
                      <a:r>
                        <a:rPr sz="900" b="0">
                          <a:solidFill>
                            <a:srgbClr val="1E293B"/>
                          </a:solidFill>
                          <a:latin typeface="Segoe UI"/>
                        </a:rPr>
                        <a:t>Instrument→Output</a:t>
                      </a:r>
                    </a:p>
                  </a:txBody>
                  <a:tcPr>
                    <a:solidFill>
                      <a:srgbClr val="F3F6FA"/>
                    </a:solidFill>
                  </a:tcPr>
                </a:tc>
                <a:tc>
                  <a:txBody>
                    <a:bodyPr wrap="square"/>
                    <a:lstStyle/>
                    <a:p>
                      <a:r>
                        <a:rPr sz="900" b="0">
                          <a:solidFill>
                            <a:srgbClr val="1E293B"/>
                          </a:solidFill>
                          <a:latin typeface="Segoe UI"/>
                        </a:rPr>
                        <a:t>Start/End</a:t>
                      </a:r>
                    </a:p>
                  </a:txBody>
                  <a:tcPr>
                    <a:solidFill>
                      <a:srgbClr val="F3F6FA"/>
                    </a:solidFill>
                  </a:tcPr>
                </a:tc>
                <a:tc>
                  <a:txBody>
                    <a:bodyPr wrap="square"/>
                    <a:lstStyle/>
                    <a:p>
                      <a:r>
                        <a:rPr sz="900" b="0">
                          <a:solidFill>
                            <a:srgbClr val="1E293B"/>
                          </a:solidFill>
                          <a:latin typeface="Segoe UI"/>
                        </a:rPr>
                        <a:t>Enabling capacity</a:t>
                      </a:r>
                    </a:p>
                  </a:txBody>
                  <a:tcPr>
                    <a:solidFill>
                      <a:srgbClr val="F3F6FA"/>
                    </a:solidFill>
                  </a:tcPr>
                </a:tc>
              </a:tr>
              <a:tr h="365760">
                <a:tc>
                  <a:txBody>
                    <a:bodyPr wrap="square"/>
                    <a:lstStyle/>
                    <a:p>
                      <a:r>
                        <a:rPr sz="900" b="1">
                          <a:solidFill>
                            <a:srgbClr val="003366"/>
                          </a:solidFill>
                          <a:latin typeface="Segoe UI"/>
                        </a:rPr>
                        <a:t>Investment Promotions (+ Tracker)</a:t>
                      </a:r>
                    </a:p>
                  </a:txBody>
                  <a:tcPr>
                    <a:solidFill>
                      <a:srgbClr val="E9F1F9"/>
                    </a:solidFill>
                  </a:tcPr>
                </a:tc>
                <a:tc>
                  <a:txBody>
                    <a:bodyPr wrap="square"/>
                    <a:lstStyle/>
                    <a:p>
                      <a:r>
                        <a:rPr sz="900" b="0">
                          <a:solidFill>
                            <a:srgbClr val="1E293B"/>
                          </a:solidFill>
                          <a:latin typeface="Segoe UI"/>
                        </a:rPr>
                        <a:t>Instrument→Output</a:t>
                      </a:r>
                    </a:p>
                  </a:txBody>
                  <a:tcPr>
                    <a:solidFill>
                      <a:srgbClr val="E9F1F9"/>
                    </a:solidFill>
                  </a:tcPr>
                </a:tc>
                <a:tc>
                  <a:txBody>
                    <a:bodyPr wrap="square"/>
                    <a:lstStyle/>
                    <a:p>
                      <a:r>
                        <a:rPr sz="900" b="0">
                          <a:solidFill>
                            <a:srgbClr val="1E293B"/>
                          </a:solidFill>
                          <a:latin typeface="Segoe UI"/>
                        </a:rPr>
                        <a:t>Start Date</a:t>
                      </a:r>
                    </a:p>
                  </a:txBody>
                  <a:tcPr>
                    <a:solidFill>
                      <a:srgbClr val="E9F1F9"/>
                    </a:solidFill>
                  </a:tcPr>
                </a:tc>
                <a:tc>
                  <a:txBody>
                    <a:bodyPr wrap="square"/>
                    <a:lstStyle/>
                    <a:p>
                      <a:r>
                        <a:rPr sz="900" b="0">
                          <a:solidFill>
                            <a:srgbClr val="1E293B"/>
                          </a:solidFill>
                          <a:latin typeface="Segoe UI"/>
                        </a:rPr>
                        <a:t>Attracted investment</a:t>
                      </a:r>
                    </a:p>
                  </a:txBody>
                  <a:tcPr>
                    <a:solidFill>
                      <a:srgbClr val="E9F1F9"/>
                    </a:solidFill>
                  </a:tcPr>
                </a:tc>
              </a:tr>
              <a:tr h="365760">
                <a:tc>
                  <a:txBody>
                    <a:bodyPr wrap="square"/>
                    <a:lstStyle/>
                    <a:p>
                      <a:r>
                        <a:rPr sz="900" b="1">
                          <a:solidFill>
                            <a:srgbClr val="003366"/>
                          </a:solidFill>
                          <a:latin typeface="Segoe UI"/>
                        </a:rPr>
                        <a:t>Major Projects (+ Tracker)</a:t>
                      </a:r>
                    </a:p>
                  </a:txBody>
                  <a:tcPr>
                    <a:solidFill>
                      <a:srgbClr val="F3F6FA"/>
                    </a:solidFill>
                  </a:tcPr>
                </a:tc>
                <a:tc>
                  <a:txBody>
                    <a:bodyPr wrap="square"/>
                    <a:lstStyle/>
                    <a:p>
                      <a:r>
                        <a:rPr sz="900" b="0">
                          <a:solidFill>
                            <a:srgbClr val="1E293B"/>
                          </a:solidFill>
                          <a:latin typeface="Segoe UI"/>
                        </a:rPr>
                        <a:t>Instrument→Output</a:t>
                      </a:r>
                    </a:p>
                  </a:txBody>
                  <a:tcPr>
                    <a:solidFill>
                      <a:srgbClr val="F3F6FA"/>
                    </a:solidFill>
                  </a:tcPr>
                </a:tc>
                <a:tc>
                  <a:txBody>
                    <a:bodyPr wrap="square"/>
                    <a:lstStyle/>
                    <a:p>
                      <a:r>
                        <a:rPr sz="900" b="0">
                          <a:solidFill>
                            <a:srgbClr val="1E293B"/>
                          </a:solidFill>
                          <a:latin typeface="Segoe UI"/>
                        </a:rPr>
                        <a:t>Start/End</a:t>
                      </a:r>
                    </a:p>
                  </a:txBody>
                  <a:tcPr>
                    <a:solidFill>
                      <a:srgbClr val="F3F6FA"/>
                    </a:solidFill>
                  </a:tcPr>
                </a:tc>
                <a:tc>
                  <a:txBody>
                    <a:bodyPr wrap="square"/>
                    <a:lstStyle/>
                    <a:p>
                      <a:r>
                        <a:rPr sz="900" b="0">
                          <a:solidFill>
                            <a:srgbClr val="1E293B"/>
                          </a:solidFill>
                          <a:latin typeface="Segoe UI"/>
                        </a:rPr>
                        <a:t>$200B by 2035</a:t>
                      </a:r>
                    </a:p>
                  </a:txBody>
                  <a:tcPr>
                    <a:solidFill>
                      <a:srgbClr val="F3F6FA"/>
                    </a:solidFill>
                  </a:tcPr>
                </a:tc>
              </a:tr>
              <a:tr h="365760">
                <a:tc>
                  <a:txBody>
                    <a:bodyPr wrap="square"/>
                    <a:lstStyle/>
                    <a:p>
                      <a:r>
                        <a:rPr sz="900" b="1">
                          <a:solidFill>
                            <a:srgbClr val="003366"/>
                          </a:solidFill>
                          <a:latin typeface="Segoe UI"/>
                        </a:rPr>
                        <a:t>Goals (+ Goals Tracker)</a:t>
                      </a:r>
                    </a:p>
                  </a:txBody>
                  <a:tcPr>
                    <a:solidFill>
                      <a:srgbClr val="E9F1F9"/>
                    </a:solidFill>
                  </a:tcPr>
                </a:tc>
                <a:tc>
                  <a:txBody>
                    <a:bodyPr wrap="square"/>
                    <a:lstStyle/>
                    <a:p>
                      <a:r>
                        <a:rPr sz="900" b="0">
                          <a:solidFill>
                            <a:srgbClr val="1E293B"/>
                          </a:solidFill>
                          <a:latin typeface="Segoe UI"/>
                        </a:rPr>
                        <a:t>Intermediate outcome</a:t>
                      </a:r>
                    </a:p>
                  </a:txBody>
                  <a:tcPr>
                    <a:solidFill>
                      <a:srgbClr val="E9F1F9"/>
                    </a:solidFill>
                  </a:tcPr>
                </a:tc>
                <a:tc>
                  <a:txBody>
                    <a:bodyPr wrap="square"/>
                    <a:lstStyle/>
                    <a:p>
                      <a:r>
                        <a:rPr sz="900" b="0">
                          <a:solidFill>
                            <a:srgbClr val="1E293B"/>
                          </a:solidFill>
                          <a:latin typeface="Segoe UI"/>
                        </a:rPr>
                        <a:t>(via Target)</a:t>
                      </a:r>
                    </a:p>
                  </a:txBody>
                  <a:tcPr>
                    <a:solidFill>
                      <a:srgbClr val="E9F1F9"/>
                    </a:solidFill>
                  </a:tcPr>
                </a:tc>
                <a:tc>
                  <a:txBody>
                    <a:bodyPr wrap="square"/>
                    <a:lstStyle/>
                    <a:p>
                      <a:r>
                        <a:rPr sz="900" b="0">
                          <a:solidFill>
                            <a:srgbClr val="1E293B"/>
                          </a:solidFill>
                          <a:latin typeface="Segoe UI"/>
                        </a:rPr>
                        <a:t>Target progress</a:t>
                      </a:r>
                    </a:p>
                  </a:txBody>
                  <a:tcPr>
                    <a:solidFill>
                      <a:srgbClr val="E9F1F9"/>
                    </a:solidFill>
                  </a:tcPr>
                </a:tc>
              </a:tr>
              <a:tr h="365760">
                <a:tc>
                  <a:txBody>
                    <a:bodyPr wrap="square"/>
                    <a:lstStyle/>
                    <a:p>
                      <a:r>
                        <a:rPr sz="900" b="1">
                          <a:solidFill>
                            <a:srgbClr val="003366"/>
                          </a:solidFill>
                          <a:latin typeface="Segoe UI"/>
                        </a:rPr>
                        <a:t>Targets (+ Target Tracker)</a:t>
                      </a:r>
                    </a:p>
                  </a:txBody>
                  <a:tcPr>
                    <a:solidFill>
                      <a:srgbClr val="F3F6FA"/>
                    </a:solidFill>
                  </a:tcPr>
                </a:tc>
                <a:tc>
                  <a:txBody>
                    <a:bodyPr wrap="square"/>
                    <a:lstStyle/>
                    <a:p>
                      <a:r>
                        <a:rPr sz="900" b="0">
                          <a:solidFill>
                            <a:srgbClr val="1E293B"/>
                          </a:solidFill>
                          <a:latin typeface="Segoe UI"/>
                        </a:rPr>
                        <a:t>Strategic target</a:t>
                      </a:r>
                    </a:p>
                  </a:txBody>
                  <a:tcPr>
                    <a:solidFill>
                      <a:srgbClr val="F3F6FA"/>
                    </a:solidFill>
                  </a:tcPr>
                </a:tc>
                <a:tc>
                  <a:txBody>
                    <a:bodyPr wrap="square"/>
                    <a:lstStyle/>
                    <a:p>
                      <a:r>
                        <a:rPr sz="900" b="0">
                          <a:solidFill>
                            <a:srgbClr val="1E293B"/>
                          </a:solidFill>
                          <a:latin typeface="Segoe UI"/>
                        </a:rPr>
                        <a:t>Timeline</a:t>
                      </a:r>
                    </a:p>
                  </a:txBody>
                  <a:tcPr>
                    <a:solidFill>
                      <a:srgbClr val="F3F6FA"/>
                    </a:solidFill>
                  </a:tcPr>
                </a:tc>
                <a:tc>
                  <a:txBody>
                    <a:bodyPr wrap="square"/>
                    <a:lstStyle/>
                    <a:p>
                      <a:r>
                        <a:rPr sz="900" b="0">
                          <a:solidFill>
                            <a:srgbClr val="1E293B"/>
                          </a:solidFill>
                          <a:latin typeface="Segoe UI"/>
                        </a:rPr>
                        <a:t>Ultimate outcomes</a:t>
                      </a:r>
                    </a:p>
                  </a:txBody>
                  <a:tcPr>
                    <a:solidFill>
                      <a:srgbClr val="F3F6FA"/>
                    </a:solidFill>
                  </a:tcPr>
                </a:tc>
              </a:tr>
              <a:tr h="365760">
                <a:tc>
                  <a:txBody>
                    <a:bodyPr wrap="square"/>
                    <a:lstStyle/>
                    <a:p>
                      <a:r>
                        <a:rPr sz="900" b="1">
                          <a:solidFill>
                            <a:srgbClr val="003366"/>
                          </a:solidFill>
                          <a:latin typeface="Segoe UI"/>
                        </a:rPr>
                        <a:t>LW Timeframe (lookup)</a:t>
                      </a:r>
                    </a:p>
                  </a:txBody>
                  <a:tcPr>
                    <a:solidFill>
                      <a:srgbClr val="E9F1F9"/>
                    </a:solidFill>
                  </a:tcPr>
                </a:tc>
                <a:tc>
                  <a:txBody>
                    <a:bodyPr wrap="square"/>
                    <a:lstStyle/>
                    <a:p>
                      <a:r>
                        <a:rPr sz="900" b="0">
                          <a:solidFill>
                            <a:srgbClr val="1E293B"/>
                          </a:solidFill>
                          <a:latin typeface="Segoe UI"/>
                        </a:rPr>
                        <a:t>Horizon spine</a:t>
                      </a:r>
                    </a:p>
                  </a:txBody>
                  <a:tcPr>
                    <a:solidFill>
                      <a:srgbClr val="E9F1F9"/>
                    </a:solidFill>
                  </a:tcPr>
                </a:tc>
                <a:tc>
                  <a:txBody>
                    <a:bodyPr wrap="square"/>
                    <a:lstStyle/>
                    <a:p>
                      <a:r>
                        <a:rPr sz="900" b="0">
                          <a:solidFill>
                            <a:srgbClr val="1E293B"/>
                          </a:solidFill>
                          <a:latin typeface="Segoe UI"/>
                        </a:rPr>
                        <a:t>Label + dates</a:t>
                      </a:r>
                    </a:p>
                  </a:txBody>
                  <a:tcPr>
                    <a:solidFill>
                      <a:srgbClr val="E9F1F9"/>
                    </a:solidFill>
                  </a:tcPr>
                </a:tc>
                <a:tc>
                  <a:txBody>
                    <a:bodyPr wrap="square"/>
                    <a:lstStyle/>
                    <a:p>
                      <a:r>
                        <a:rPr sz="900" b="0">
                          <a:solidFill>
                            <a:srgbClr val="1E293B"/>
                          </a:solidFill>
                          <a:latin typeface="Segoe UI"/>
                        </a:rPr>
                        <a:t>Short/Med/Long bands</a:t>
                      </a:r>
                    </a:p>
                  </a:txBody>
                  <a:tcPr>
                    <a:solidFill>
                      <a:srgbClr val="E9F1F9"/>
                    </a:solidFill>
                  </a:tcPr>
                </a:tc>
              </a:tr>
            </a:tbl>
          </a:graphicData>
        </a:graphic>
      </p:graphicFrame>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MAKING IT COMPUTABLE</a:t>
            </a:r>
          </a:p>
          <a:p>
            <a:pPr algn="l">
              <a:spcBef>
                <a:spcPts val="0"/>
              </a:spcBef>
              <a:spcAft>
                <a:spcPts val="200"/>
              </a:spcAft>
            </a:pPr>
            <a:r>
              <a:rPr sz="2200" b="1" i="0">
                <a:solidFill>
                  <a:srgbClr val="FFFFFF"/>
                </a:solidFill>
                <a:latin typeface="Segoe UI"/>
              </a:rPr>
              <a:t>What to add to turn this model into live scoring</a:t>
            </a:r>
          </a:p>
        </p:txBody>
      </p:sp>
      <p:sp>
        <p:nvSpPr>
          <p:cNvPr id="5" name="TextBox 4"/>
          <p:cNvSpPr txBox="1"/>
          <p:nvPr/>
        </p:nvSpPr>
        <p:spPr>
          <a:xfrm>
            <a:off x="502920" y="1280160"/>
            <a:ext cx="111556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EXPLICIT TARGET-YEAR ON EVERY TARGET</a:t>
            </a:r>
          </a:p>
          <a:p>
            <a:pPr algn="l">
              <a:spcBef>
                <a:spcPts val="400"/>
              </a:spcBef>
              <a:spcAft>
                <a:spcPts val="200"/>
              </a:spcAft>
            </a:pPr>
            <a:r>
              <a:rPr sz="1150" b="0" i="0">
                <a:solidFill>
                  <a:srgbClr val="1E293B"/>
                </a:solidFill>
                <a:latin typeface="Segoe UI"/>
              </a:rPr>
              <a:t>Ensure each Target's Timeline resolves to a concrete horizon band (via LW Timeframe dates) so 'on-pace vs off-pace' can be computed, not eyeballed.</a:t>
            </a:r>
          </a:p>
          <a:p>
            <a:pPr algn="l">
              <a:spcBef>
                <a:spcPts val="1000"/>
              </a:spcBef>
              <a:spcAft>
                <a:spcPts val="200"/>
              </a:spcAft>
            </a:pPr>
            <a:r>
              <a:rPr sz="1250" b="1" i="0">
                <a:solidFill>
                  <a:srgbClr val="003366"/>
                </a:solidFill>
                <a:latin typeface="Segoe UI"/>
              </a:rPr>
              <a:t>CONTRIBUTION WEIGHTS (OPTIONAL)</a:t>
            </a:r>
          </a:p>
          <a:p>
            <a:pPr algn="l">
              <a:spcBef>
                <a:spcPts val="400"/>
              </a:spcBef>
              <a:spcAft>
                <a:spcPts val="200"/>
              </a:spcAft>
            </a:pPr>
            <a:r>
              <a:rPr sz="1150" b="0" i="0">
                <a:solidFill>
                  <a:srgbClr val="1E293B"/>
                </a:solidFill>
                <a:latin typeface="Segoe UI"/>
              </a:rPr>
              <a:t>Let each instrument/target declare how much it is expected to contribute to an ultimate target (e.g. share of the $200B). This turns the chain into a roll-up forecast.</a:t>
            </a:r>
          </a:p>
          <a:p>
            <a:pPr algn="l">
              <a:spcBef>
                <a:spcPts val="1000"/>
              </a:spcBef>
              <a:spcAft>
                <a:spcPts val="200"/>
              </a:spcAft>
            </a:pPr>
            <a:r>
              <a:rPr sz="1250" b="1" i="0">
                <a:solidFill>
                  <a:srgbClr val="003366"/>
                </a:solidFill>
                <a:latin typeface="Segoe UI"/>
              </a:rPr>
              <a:t>A PACE METRIC</a:t>
            </a:r>
          </a:p>
          <a:p>
            <a:pPr algn="l">
              <a:spcBef>
                <a:spcPts val="400"/>
              </a:spcBef>
              <a:spcAft>
                <a:spcPts val="200"/>
              </a:spcAft>
            </a:pPr>
            <a:r>
              <a:rPr sz="1150" b="0" i="0">
                <a:solidFill>
                  <a:srgbClr val="1E293B"/>
                </a:solidFill>
                <a:latin typeface="Segoe UI"/>
              </a:rPr>
              <a:t>Store expected Progress % by date, so the dashboard can flag 'behind schedule for this horizon' automatically — the leading-indicator alarm.</a:t>
            </a:r>
          </a:p>
          <a:p>
            <a:pPr algn="l">
              <a:spcBef>
                <a:spcPts val="1000"/>
              </a:spcBef>
              <a:spcAft>
                <a:spcPts val="200"/>
              </a:spcAft>
            </a:pPr>
            <a:r>
              <a:rPr sz="1250" b="1" i="0">
                <a:solidFill>
                  <a:srgbClr val="003366"/>
                </a:solidFill>
                <a:latin typeface="Segoe UI"/>
              </a:rPr>
              <a:t>KEEP THE EVIDENCE LINK</a:t>
            </a:r>
          </a:p>
          <a:p>
            <a:pPr algn="l">
              <a:spcBef>
                <a:spcPts val="400"/>
              </a:spcBef>
              <a:spcAft>
                <a:spcPts val="200"/>
              </a:spcAft>
            </a:pPr>
            <a:r>
              <a:rPr sz="1150" b="0" i="0">
                <a:solidFill>
                  <a:srgbClr val="1E293B"/>
                </a:solidFill>
                <a:latin typeface="Segoe UI"/>
              </a:rPr>
              <a:t>Maintain the Announcement ID on tracker rows; it is what keeps every rolled-up number auditable back to a public source.</a:t>
            </a:r>
          </a:p>
          <a:p>
            <a:pPr algn="l">
              <a:spcBef>
                <a:spcPts val="1000"/>
              </a:spcBef>
              <a:spcAft>
                <a:spcPts val="200"/>
              </a:spcAft>
            </a:pPr>
            <a:r>
              <a:rPr sz="1250" b="1" i="0">
                <a:solidFill>
                  <a:srgbClr val="003366"/>
                </a:solidFill>
                <a:latin typeface="Segoe UI"/>
              </a:rPr>
              <a:t>NOTHING HERE BREAKS THE APP</a:t>
            </a:r>
          </a:p>
          <a:p>
            <a:pPr algn="l">
              <a:spcBef>
                <a:spcPts val="400"/>
              </a:spcBef>
              <a:spcAft>
                <a:spcPts val="200"/>
              </a:spcAft>
            </a:pPr>
            <a:r>
              <a:rPr sz="1150" b="0" i="0">
                <a:solidFill>
                  <a:srgbClr val="1E293B"/>
                </a:solidFill>
                <a:latin typeface="Segoe UI"/>
              </a:rPr>
              <a:t>These are additive fields on existing datasets — the current dashboard keeps working; the model just gets sharper as they're filled in.</a:t>
            </a:r>
          </a:p>
        </p:txBody>
      </p:sp>
      <p:sp>
        <p:nvSpPr>
          <p:cNvPr id="6" name="TextBox 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7" name="TextBox 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SOURCES</a:t>
            </a:r>
          </a:p>
          <a:p>
            <a:pPr algn="l">
              <a:spcBef>
                <a:spcPts val="0"/>
              </a:spcBef>
              <a:spcAft>
                <a:spcPts val="200"/>
              </a:spcAft>
            </a:pPr>
            <a:r>
              <a:rPr sz="2200" b="1" i="0">
                <a:solidFill>
                  <a:srgbClr val="FFFFFF"/>
                </a:solidFill>
                <a:latin typeface="Segoe UI"/>
              </a:rPr>
              <a:t>Ultimate targets — provenance</a:t>
            </a:r>
          </a:p>
        </p:txBody>
      </p:sp>
      <p:sp>
        <p:nvSpPr>
          <p:cNvPr id="5" name="TextBox 4"/>
          <p:cNvSpPr txBox="1"/>
          <p:nvPr/>
        </p:nvSpPr>
        <p:spPr>
          <a:xfrm>
            <a:off x="502920" y="1207008"/>
            <a:ext cx="11155680" cy="457200"/>
          </a:xfrm>
          <a:prstGeom prst="rect">
            <a:avLst/>
          </a:prstGeom>
          <a:noFill/>
        </p:spPr>
        <p:txBody>
          <a:bodyPr wrap="square">
            <a:spAutoFit/>
          </a:bodyPr>
          <a:lstStyle/>
          <a:p>
            <a:pPr algn="l">
              <a:spcBef>
                <a:spcPts val="400"/>
              </a:spcBef>
              <a:spcAft>
                <a:spcPts val="200"/>
              </a:spcAft>
            </a:pPr>
            <a:r>
              <a:rPr sz="1100" b="0" i="1">
                <a:solidFill>
                  <a:srgbClr val="5F7388"/>
                </a:solidFill>
                <a:latin typeface="Segoe UI"/>
              </a:rPr>
              <a:t>Ultimate targets are drawn from public Province of B.C. sources (strategy launched Nov 2025); confirm against the latest release before external use.</a:t>
            </a:r>
          </a:p>
        </p:txBody>
      </p:sp>
      <p:graphicFrame>
        <p:nvGraphicFramePr>
          <p:cNvPr id="6" name="Table 5"/>
          <p:cNvGraphicFramePr>
            <a:graphicFrameLocks noGrp="1"/>
          </p:cNvGraphicFramePr>
          <p:nvPr/>
        </p:nvGraphicFramePr>
        <p:xfrm>
          <a:off x="502920" y="1737360"/>
          <a:ext cx="11155680" cy="2194560"/>
        </p:xfrm>
        <a:graphic>
          <a:graphicData uri="http://schemas.openxmlformats.org/drawingml/2006/table">
            <a:tbl>
              <a:tblPr firstRow="1" bandRow="1">
                <a:tableStyleId>{5C22544A-7EE6-4342-B048-85BDC9FD1C3A}</a:tableStyleId>
              </a:tblPr>
              <a:tblGrid>
                <a:gridCol w="5120640"/>
                <a:gridCol w="6035040"/>
              </a:tblGrid>
              <a:tr h="365760">
                <a:tc>
                  <a:txBody>
                    <a:bodyPr/>
                    <a:lstStyle/>
                    <a:p>
                      <a:r>
                        <a:rPr sz="1000" b="1">
                          <a:solidFill>
                            <a:srgbClr val="FFFFFF"/>
                          </a:solidFill>
                          <a:latin typeface="Segoe UI"/>
                        </a:rPr>
                        <a:t>Figure / claim</a:t>
                      </a:r>
                    </a:p>
                  </a:txBody>
                  <a:tcPr>
                    <a:solidFill>
                      <a:srgbClr val="003366"/>
                    </a:solidFill>
                  </a:tcPr>
                </a:tc>
                <a:tc>
                  <a:txBody>
                    <a:bodyPr/>
                    <a:lstStyle/>
                    <a:p>
                      <a:r>
                        <a:rPr sz="1000" b="1">
                          <a:solidFill>
                            <a:srgbClr val="FFFFFF"/>
                          </a:solidFill>
                          <a:latin typeface="Segoe UI"/>
                        </a:rPr>
                        <a:t>Source</a:t>
                      </a:r>
                    </a:p>
                  </a:txBody>
                  <a:tcPr>
                    <a:solidFill>
                      <a:srgbClr val="003366"/>
                    </a:solidFill>
                  </a:tcPr>
                </a:tc>
              </a:tr>
              <a:tr h="365760">
                <a:tc>
                  <a:txBody>
                    <a:bodyPr wrap="square"/>
                    <a:lstStyle/>
                    <a:p>
                      <a:r>
                        <a:rPr sz="900" b="1">
                          <a:solidFill>
                            <a:srgbClr val="003366"/>
                          </a:solidFill>
                          <a:latin typeface="Segoe UI"/>
                        </a:rPr>
                        <a:t>$200B private-sector investment by ~2035; $88–89B major projects / 3 yrs; tens of thousands of jobs</a:t>
                      </a:r>
                    </a:p>
                  </a:txBody>
                  <a:tcPr>
                    <a:solidFill>
                      <a:srgbClr val="E9F1F9"/>
                    </a:solidFill>
                  </a:tcPr>
                </a:tc>
                <a:tc>
                  <a:txBody>
                    <a:bodyPr wrap="square"/>
                    <a:lstStyle/>
                    <a:p>
                      <a:r>
                        <a:rPr sz="900" b="0">
                          <a:solidFill>
                            <a:srgbClr val="1E293B"/>
                          </a:solidFill>
                          <a:latin typeface="Segoe UI"/>
                        </a:rPr>
                        <a:t>Look West Update, Office of the Premier (news.gov.bc.ca/releases/2026PREM0020-000479)</a:t>
                      </a:r>
                    </a:p>
                  </a:txBody>
                  <a:tcPr>
                    <a:solidFill>
                      <a:srgbClr val="E9F1F9"/>
                    </a:solidFill>
                  </a:tcPr>
                </a:tc>
              </a:tr>
              <a:tr h="365760">
                <a:tc>
                  <a:txBody>
                    <a:bodyPr wrap="square"/>
                    <a:lstStyle/>
                    <a:p>
                      <a:r>
                        <a:rPr sz="900" b="1">
                          <a:solidFill>
                            <a:srgbClr val="003366"/>
                          </a:solidFill>
                          <a:latin typeface="Segoe UI"/>
                        </a:rPr>
                        <a:t>Three pillars; near/medium/long horizon language; sector list; tech +75%; LNG &amp; renewable targets</a:t>
                      </a:r>
                    </a:p>
                  </a:txBody>
                  <a:tcPr>
                    <a:solidFill>
                      <a:srgbClr val="F3F6FA"/>
                    </a:solidFill>
                  </a:tcPr>
                </a:tc>
                <a:tc>
                  <a:txBody>
                    <a:bodyPr wrap="square"/>
                    <a:lstStyle/>
                    <a:p>
                      <a:r>
                        <a:rPr sz="900" b="0">
                          <a:solidFill>
                            <a:srgbClr val="1E293B"/>
                          </a:solidFill>
                          <a:latin typeface="Segoe UI"/>
                        </a:rPr>
                        <a:t>Look West strategy — Introduction &amp; overview (www2.gov.bc.ca/…/look-west-strategy)</a:t>
                      </a:r>
                    </a:p>
                  </a:txBody>
                  <a:tcPr>
                    <a:solidFill>
                      <a:srgbClr val="F3F6FA"/>
                    </a:solidFill>
                  </a:tcPr>
                </a:tc>
              </a:tr>
              <a:tr h="365760">
                <a:tc>
                  <a:txBody>
                    <a:bodyPr wrap="square"/>
                    <a:lstStyle/>
                    <a:p>
                      <a:r>
                        <a:rPr sz="900" b="1">
                          <a:solidFill>
                            <a:srgbClr val="003366"/>
                          </a:solidFill>
                          <a:latin typeface="Segoe UI"/>
                        </a:rPr>
                        <a:t>Launch, $88B major projects, security framing</a:t>
                      </a:r>
                    </a:p>
                  </a:txBody>
                  <a:tcPr>
                    <a:solidFill>
                      <a:srgbClr val="E9F1F9"/>
                    </a:solidFill>
                  </a:tcPr>
                </a:tc>
                <a:tc>
                  <a:txBody>
                    <a:bodyPr wrap="square"/>
                    <a:lstStyle/>
                    <a:p>
                      <a:r>
                        <a:rPr sz="900" b="0">
                          <a:solidFill>
                            <a:srgbClr val="1E293B"/>
                          </a:solidFill>
                          <a:latin typeface="Segoe UI"/>
                        </a:rPr>
                        <a:t>BC's Look West plan… launch release (news.gov.bc.ca/releases/2025JEG0052-001128)</a:t>
                      </a:r>
                    </a:p>
                  </a:txBody>
                  <a:tcPr>
                    <a:solidFill>
                      <a:srgbClr val="E9F1F9"/>
                    </a:solidFill>
                  </a:tcPr>
                </a:tc>
              </a:tr>
              <a:tr h="365760">
                <a:tc>
                  <a:txBody>
                    <a:bodyPr wrap="square"/>
                    <a:lstStyle/>
                    <a:p>
                      <a:r>
                        <a:rPr sz="900" b="1">
                          <a:solidFill>
                            <a:srgbClr val="003366"/>
                          </a:solidFill>
                          <a:latin typeface="Segoe UI"/>
                        </a:rPr>
                        <a:t>Trades-training funding ($241M/3yr; $214M/yr by 2028–29; 5,000 seats)</a:t>
                      </a:r>
                    </a:p>
                  </a:txBody>
                  <a:tcPr>
                    <a:solidFill>
                      <a:srgbClr val="F3F6FA"/>
                    </a:solidFill>
                  </a:tcPr>
                </a:tc>
                <a:tc>
                  <a:txBody>
                    <a:bodyPr wrap="square"/>
                    <a:lstStyle/>
                    <a:p>
                      <a:r>
                        <a:rPr sz="900" b="0">
                          <a:solidFill>
                            <a:srgbClr val="1E293B"/>
                          </a:solidFill>
                          <a:latin typeface="Segoe UI"/>
                        </a:rPr>
                        <a:t>Look West Update release (news.gov.bc.ca/releases/2026PREM0020-000479)</a:t>
                      </a:r>
                    </a:p>
                  </a:txBody>
                  <a:tcPr>
                    <a:solidFill>
                      <a:srgbClr val="F3F6FA"/>
                    </a:solidFill>
                  </a:tcPr>
                </a:tc>
              </a:tr>
              <a:tr h="365760">
                <a:tc>
                  <a:txBody>
                    <a:bodyPr wrap="square"/>
                    <a:lstStyle/>
                    <a:p>
                      <a:r>
                        <a:rPr sz="900" b="1">
                          <a:solidFill>
                            <a:srgbClr val="003366"/>
                          </a:solidFill>
                          <a:latin typeface="Segoe UI"/>
                        </a:rPr>
                        <a:t>Full strategy document</a:t>
                      </a:r>
                    </a:p>
                  </a:txBody>
                  <a:tcPr>
                    <a:solidFill>
                      <a:srgbClr val="E9F1F9"/>
                    </a:solidFill>
                  </a:tcPr>
                </a:tc>
                <a:tc>
                  <a:txBody>
                    <a:bodyPr wrap="square"/>
                    <a:lstStyle/>
                    <a:p>
                      <a:r>
                        <a:rPr sz="900" b="0">
                          <a:solidFill>
                            <a:srgbClr val="1E293B"/>
                          </a:solidFill>
                          <a:latin typeface="Segoe UI"/>
                        </a:rPr>
                        <a:t>Look West: Jobs and Prosperity for a Stronger BC and Canada (PDF, www2.gov.bc.ca/…/lookwest.pdf)</a:t>
                      </a:r>
                    </a:p>
                  </a:txBody>
                  <a:tcPr>
                    <a:solidFill>
                      <a:srgbClr val="E9F1F9"/>
                    </a:solidFill>
                  </a:tcPr>
                </a:tc>
              </a:tr>
            </a:tbl>
          </a:graphicData>
        </a:graphic>
      </p:graphicFrame>
      <p:sp>
        <p:nvSpPr>
          <p:cNvPr id="7" name="TextBox 6"/>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8" name="TextBox 7"/>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54864"/>
          </a:xfrm>
          <a:prstGeom prst="rect">
            <a:avLst/>
          </a:prstGeom>
          <a:solidFill>
            <a:srgbClr val="FCB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868680"/>
          </a:xfrm>
          <a:prstGeom prst="rect">
            <a:avLst/>
          </a:prstGeom>
          <a:noFill/>
        </p:spPr>
        <p:txBody>
          <a:bodyPr wrap="square">
            <a:spAutoFit/>
          </a:bodyPr>
          <a:lstStyle/>
          <a:p>
            <a:pPr algn="l">
              <a:spcBef>
                <a:spcPts val="400"/>
              </a:spcBef>
              <a:spcAft>
                <a:spcPts val="100"/>
              </a:spcAft>
            </a:pPr>
            <a:r>
              <a:rPr sz="1100" b="1" i="0">
                <a:solidFill>
                  <a:srgbClr val="FCBA19"/>
                </a:solidFill>
                <a:latin typeface="Segoe UI"/>
              </a:rPr>
              <a:t>CLOSE</a:t>
            </a:r>
          </a:p>
          <a:p>
            <a:pPr algn="l">
              <a:spcBef>
                <a:spcPts val="0"/>
              </a:spcBef>
              <a:spcAft>
                <a:spcPts val="200"/>
              </a:spcAft>
            </a:pPr>
            <a:r>
              <a:rPr sz="2200" b="1" i="0">
                <a:solidFill>
                  <a:srgbClr val="FFFFFF"/>
                </a:solidFill>
                <a:latin typeface="Segoe UI"/>
              </a:rPr>
              <a:t>How to use this model</a:t>
            </a:r>
          </a:p>
        </p:txBody>
      </p:sp>
      <p:sp>
        <p:nvSpPr>
          <p:cNvPr id="5" name="TextBox 4"/>
          <p:cNvSpPr txBox="1"/>
          <p:nvPr/>
        </p:nvSpPr>
        <p:spPr>
          <a:xfrm>
            <a:off x="502920" y="1280160"/>
            <a:ext cx="11155680" cy="4846320"/>
          </a:xfrm>
          <a:prstGeom prst="rect">
            <a:avLst/>
          </a:prstGeom>
          <a:noFill/>
        </p:spPr>
        <p:txBody>
          <a:bodyPr wrap="square">
            <a:spAutoFit/>
          </a:bodyPr>
          <a:lstStyle/>
          <a:p>
            <a:pPr algn="l">
              <a:spcBef>
                <a:spcPts val="0"/>
              </a:spcBef>
              <a:spcAft>
                <a:spcPts val="200"/>
              </a:spcAft>
            </a:pPr>
            <a:r>
              <a:rPr sz="1250" b="1" i="0">
                <a:solidFill>
                  <a:srgbClr val="003366"/>
                </a:solidFill>
                <a:latin typeface="Segoe UI"/>
              </a:rPr>
              <a:t>AS A LENS ON THE DASHBOARD</a:t>
            </a:r>
          </a:p>
          <a:p>
            <a:pPr algn="l">
              <a:spcBef>
                <a:spcPts val="400"/>
              </a:spcBef>
              <a:spcAft>
                <a:spcPts val="200"/>
              </a:spcAft>
            </a:pPr>
            <a:r>
              <a:rPr sz="1150" b="0" i="0">
                <a:solidFill>
                  <a:srgbClr val="1E293B"/>
                </a:solidFill>
                <a:latin typeface="Segoe UI"/>
              </a:rPr>
              <a:t>When you look at any page, place what you see on the chain: is this an instrument, an output, an outcome, a target, or the end-state — and at which horizon? That tells you what it predicts.</a:t>
            </a:r>
          </a:p>
          <a:p>
            <a:pPr algn="l">
              <a:spcBef>
                <a:spcPts val="1000"/>
              </a:spcBef>
              <a:spcAft>
                <a:spcPts val="200"/>
              </a:spcAft>
            </a:pPr>
            <a:r>
              <a:rPr sz="1250" b="1" i="0">
                <a:solidFill>
                  <a:srgbClr val="003366"/>
                </a:solidFill>
                <a:latin typeface="Segoe UI"/>
              </a:rPr>
              <a:t>AS A DESIGN GUARDRAIL</a:t>
            </a:r>
          </a:p>
          <a:p>
            <a:pPr algn="l">
              <a:spcBef>
                <a:spcPts val="400"/>
              </a:spcBef>
              <a:spcAft>
                <a:spcPts val="200"/>
              </a:spcAft>
            </a:pPr>
            <a:r>
              <a:rPr sz="1150" b="0" i="0">
                <a:solidFill>
                  <a:srgbClr val="1E293B"/>
                </a:solidFill>
                <a:latin typeface="Segoe UI"/>
              </a:rPr>
              <a:t>New metrics should attach to a layer and a horizon and point at an ultimate target. If a proposed metric doesn't, it may be activity noise rather than signal.</a:t>
            </a:r>
          </a:p>
          <a:p>
            <a:pPr algn="l">
              <a:spcBef>
                <a:spcPts val="1000"/>
              </a:spcBef>
              <a:spcAft>
                <a:spcPts val="200"/>
              </a:spcAft>
            </a:pPr>
            <a:r>
              <a:rPr sz="1250" b="1" i="0">
                <a:solidFill>
                  <a:srgbClr val="003366"/>
                </a:solidFill>
                <a:latin typeface="Segoe UI"/>
              </a:rPr>
              <a:t>AS A NARRATIVE FOR LEADERSHIP</a:t>
            </a:r>
          </a:p>
          <a:p>
            <a:pPr algn="l">
              <a:spcBef>
                <a:spcPts val="400"/>
              </a:spcBef>
              <a:spcAft>
                <a:spcPts val="200"/>
              </a:spcAft>
            </a:pPr>
            <a:r>
              <a:rPr sz="1150" b="0" i="0">
                <a:solidFill>
                  <a:srgbClr val="1E293B"/>
                </a:solidFill>
                <a:latin typeface="Segoe UI"/>
              </a:rPr>
              <a:t>The chain is the story: here is what we're doing now, here is what it produces, here is how it reaches the $200B / jobs / diversified-market commitments by 2035.</a:t>
            </a:r>
          </a:p>
          <a:p>
            <a:pPr algn="l">
              <a:spcBef>
                <a:spcPts val="1000"/>
              </a:spcBef>
              <a:spcAft>
                <a:spcPts val="200"/>
              </a:spcAft>
            </a:pPr>
            <a:r>
              <a:rPr sz="1250" b="1" i="0">
                <a:solidFill>
                  <a:srgbClr val="003366"/>
                </a:solidFill>
                <a:latin typeface="Segoe UI"/>
              </a:rPr>
              <a:t>KEEP IT CURRENT</a:t>
            </a:r>
          </a:p>
          <a:p>
            <a:pPr algn="l">
              <a:spcBef>
                <a:spcPts val="400"/>
              </a:spcBef>
              <a:spcAft>
                <a:spcPts val="200"/>
              </a:spcAft>
            </a:pPr>
            <a:r>
              <a:rPr sz="1150" b="0" i="0">
                <a:solidFill>
                  <a:srgbClr val="1E293B"/>
                </a:solidFill>
                <a:latin typeface="Segoe UI"/>
              </a:rPr>
              <a:t>The ultimate targets come from a live government strategy; revisit the Sources when the Province publishes updates, and adjust the target values here.</a:t>
            </a:r>
          </a:p>
        </p:txBody>
      </p:sp>
      <p:sp>
        <p:nvSpPr>
          <p:cNvPr id="6" name="TextBox 5"/>
          <p:cNvSpPr txBox="1"/>
          <p:nvPr/>
        </p:nvSpPr>
        <p:spPr>
          <a:xfrm>
            <a:off x="457200" y="6419088"/>
            <a:ext cx="8686800" cy="320040"/>
          </a:xfrm>
          <a:prstGeom prst="rect">
            <a:avLst/>
          </a:prstGeom>
          <a:noFill/>
        </p:spPr>
        <p:txBody>
          <a:bodyPr wrap="square">
            <a:spAutoFit/>
          </a:bodyPr>
          <a:lstStyle/>
          <a:p>
            <a:pPr algn="l">
              <a:spcBef>
                <a:spcPts val="400"/>
              </a:spcBef>
              <a:spcAft>
                <a:spcPts val="200"/>
              </a:spcAft>
            </a:pPr>
            <a:r>
              <a:rPr sz="850" b="0" i="0">
                <a:solidFill>
                  <a:srgbClr val="5F7388"/>
                </a:solidFill>
                <a:latin typeface="Segoe UI"/>
              </a:rPr>
              <a:t>BC Look West Monitor — Outcomes Data Model</a:t>
            </a:r>
          </a:p>
        </p:txBody>
      </p:sp>
      <p:sp>
        <p:nvSpPr>
          <p:cNvPr id="7" name="TextBox 6"/>
          <p:cNvSpPr txBox="1"/>
          <p:nvPr/>
        </p:nvSpPr>
        <p:spPr>
          <a:xfrm>
            <a:off x="10698480" y="6419088"/>
            <a:ext cx="1097280" cy="320040"/>
          </a:xfrm>
          <a:prstGeom prst="rect">
            <a:avLst/>
          </a:prstGeom>
          <a:noFill/>
        </p:spPr>
        <p:txBody>
          <a:bodyPr wrap="square">
            <a:spAutoFit/>
          </a:bodyPr>
          <a:lstStyle/>
          <a:p>
            <a:pPr algn="r">
              <a:spcBef>
                <a:spcPts val="400"/>
              </a:spcBef>
              <a:spcAft>
                <a:spcPts val="200"/>
              </a:spcAft>
            </a:pPr>
            <a:r>
              <a:rPr sz="850" b="0" i="0">
                <a:solidFill>
                  <a:srgbClr val="5F7388"/>
                </a:solidFill>
                <a:latin typeface="Segoe U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
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2B57"/>
              </a:gs>
              <a:gs pos="100000">
                <a:srgbClr val="0A3D75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1280160" cy="762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CBA19"/>
                </a:solidFill>
                <a:latin typeface="Segoe UI"/>
              </a:rPr>
              <a:t>LOOK WEST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Segoe UI Light"/>
              </a:rPr>
              <a:t>Monitoring Dashboard &amp; Data Workflow</a:t>
            </a:r>
          </a:p>
          <a:p>
            <a:pPr algn="l"/>
            <a:r>
              <a:rPr sz="1800" b="0" i="0">
                <a:solidFill>
                  <a:srgbClr val="CBD9EC"/>
                </a:solidFill>
                <a:latin typeface="Segoe UI"/>
              </a:rPr>
              <a:t>A two-track work plan: trusted data  →  a single source of truth  →  an executive-ready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Work Plan  ·  Draft v0.2  ·  June 2026</a:t>
            </a:r>
          </a:p>
          <a:p>
            <a:pPr algn="l"/>
            <a:r>
              <a:rPr sz="1200" b="0" i="0">
                <a:solidFill>
                  <a:srgbClr val="AFC2DB"/>
                </a:solidFill>
                <a:latin typeface="Segoe UI"/>
              </a:rPr>
              <a:t>Owner: Mehdi Naji   ·   For review &amp; sign-off: Jacqueline (Director)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What this plan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61188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BA19"/>
                </a:solidFill>
                <a:latin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The challenge &amp; approach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Why monitoring needs one source of 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61188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BA19"/>
                </a:solidFill>
                <a:latin typeface="Segoe UI Ligh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803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Two parallel tracks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Data hub  +  dashboard &amp;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03120"/>
            <a:ext cx="361188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BA19"/>
                </a:solidFill>
                <a:latin typeface="Segoe UI Ligh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Metrics &amp; governance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How metrics are proposed, validated, 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361188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BA19"/>
                </a:solidFill>
                <a:latin typeface="Segoe UI Ligh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Workflow &amp; engagement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How the tracks connect; who we engage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160520"/>
            <a:ext cx="361188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3434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BA19"/>
                </a:solidFill>
                <a:latin typeface="Segoe UI Ligh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9377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Timeline to end of summer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Milestones, checkpoints, dependencies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160520"/>
            <a:ext cx="361188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BA19"/>
                </a:solidFill>
                <a:latin typeface="Segoe UI Light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377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Risks &amp; next steps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Bottlenecks, mitigations,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Where we are right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53949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CBA19"/>
                </a:solidFill>
                <a:latin typeface="Segoe UI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02B57"/>
                </a:solidFill>
                <a:latin typeface="Segoe UI"/>
              </a:rPr>
              <a:t>Look West progress data is fragmented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Segoe UI"/>
              </a:rPr>
              <a:t>•  Spread across public stats, internal spreadsheets, and announcements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Segoe UI"/>
              </a:rPr>
              <a:t>•  No single validated source of truth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Segoe UI"/>
              </a:rPr>
              <a:t>•  No executive-facing view of progress, gaps, or risks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•  Metrics not yet defined or leadership-approved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422392" cy="402336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CBA19"/>
                </a:solidFill>
                <a:latin typeface="Segoe UI"/>
              </a:rPr>
              <a:t>ALREADY IN PLACE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798064"/>
            <a:ext cx="146304" cy="146304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743200"/>
            <a:ext cx="45079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Data Hub schema designed</a:t>
            </a:r>
          </a:p>
          <a:p>
            <a:pPr algn="l"/>
            <a:r>
              <a:rPr sz="1100" b="0" i="0">
                <a:solidFill>
                  <a:srgbClr val="C0CEE0"/>
                </a:solidFill>
                <a:latin typeface="Segoe UI"/>
              </a:rPr>
              <a:t>13-table model: targets, trackers, announcements, reference data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3584448"/>
            <a:ext cx="146304" cy="146304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529584"/>
            <a:ext cx="45079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Dashboard prototype built</a:t>
            </a:r>
          </a:p>
          <a:p>
            <a:pPr algn="l"/>
            <a:r>
              <a:rPr sz="1100" b="0" i="0">
                <a:solidFill>
                  <a:srgbClr val="C0CEE0"/>
                </a:solidFill>
                <a:latin typeface="Segoe UI"/>
              </a:rPr>
              <a:t>HTML Monitor + 5 tracker pages (flexible design &amp; UX)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4370832"/>
            <a:ext cx="146304" cy="146304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315968"/>
            <a:ext cx="45079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Governance scaffolding</a:t>
            </a:r>
          </a:p>
          <a:p>
            <a:pPr algn="l"/>
            <a:r>
              <a:rPr sz="1100" b="0" i="0">
                <a:solidFill>
                  <a:srgbClr val="C0CEE0"/>
                </a:solidFill>
                <a:latin typeface="Segoe UI"/>
              </a:rPr>
              <a:t>Ownership registry + dataset status &amp; cadence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5157216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5102352"/>
            <a:ext cx="45079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Not yet done</a:t>
            </a:r>
          </a:p>
          <a:p>
            <a:pPr algn="l"/>
            <a:r>
              <a:rPr sz="1100" b="0" i="0">
                <a:solidFill>
                  <a:srgbClr val="C0CEE0"/>
                </a:solidFill>
                <a:latin typeface="Segoe UI"/>
              </a:rPr>
              <a:t>Metrics approval · validated data · deployment to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One rule: the Data Hub is the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Segoe UI"/>
              </a:rPr>
              <a:t>Data flows in one direction. Nothing is typed straight into the dashboard — every figure traces to a validated row in the Hub.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695" y="30175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6295" y="3273552"/>
            <a:ext cx="502920" cy="6350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295" y="34747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Sources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Public data · internal teams · announcements</a:t>
            </a:r>
          </a:p>
        </p:txBody>
      </p:sp>
      <p:sp>
        <p:nvSpPr>
          <p:cNvPr id="13" name="Chevron 12"/>
          <p:cNvSpPr/>
          <p:nvPr/>
        </p:nvSpPr>
        <p:spPr>
          <a:xfrm>
            <a:off x="2950311" y="3730752"/>
            <a:ext cx="310896" cy="402336"/>
          </a:xfrm>
          <a:prstGeom prst="chevron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7783" y="3017520"/>
            <a:ext cx="2606040" cy="182880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6383" y="3273552"/>
            <a:ext cx="50292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6383" y="34747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Look West Data Hub</a:t>
            </a:r>
          </a:p>
          <a:p>
            <a:pPr algn="l"/>
            <a:r>
              <a:rPr sz="1150" b="0" i="0">
                <a:solidFill>
                  <a:srgbClr val="C8D6E8"/>
                </a:solidFill>
                <a:latin typeface="Segoe UI"/>
              </a:rPr>
              <a:t>Validated · owned · governed  —  SOURCE OF TRUTH</a:t>
            </a:r>
          </a:p>
        </p:txBody>
      </p:sp>
      <p:sp>
        <p:nvSpPr>
          <p:cNvPr id="17" name="Chevron 16"/>
          <p:cNvSpPr/>
          <p:nvPr/>
        </p:nvSpPr>
        <p:spPr>
          <a:xfrm>
            <a:off x="5940399" y="3730752"/>
            <a:ext cx="310896" cy="402336"/>
          </a:xfrm>
          <a:prstGeom prst="chevron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7871" y="30175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16471" y="3273552"/>
            <a:ext cx="502920" cy="6350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471" y="34747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Look West Monitor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Executive dashboard · progress, gaps, risks</a:t>
            </a:r>
          </a:p>
        </p:txBody>
      </p:sp>
      <p:sp>
        <p:nvSpPr>
          <p:cNvPr id="21" name="Chevron 20"/>
          <p:cNvSpPr/>
          <p:nvPr/>
        </p:nvSpPr>
        <p:spPr>
          <a:xfrm>
            <a:off x="8930487" y="3730752"/>
            <a:ext cx="310896" cy="402336"/>
          </a:xfrm>
          <a:prstGeom prst="chevron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77959" y="3017520"/>
            <a:ext cx="26060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6559" y="3273552"/>
            <a:ext cx="502920" cy="6350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6559" y="34747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2B57"/>
                </a:solidFill>
                <a:latin typeface="Segoe UI"/>
              </a:rPr>
              <a:t>Executives &amp; users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Decision-ready, accessible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B57"/>
                </a:solidFill>
                <a:latin typeface="Segoe UI"/>
              </a:rPr>
              <a:t>Why this matters:  the long pole of the project is sourcing and validating data — not building the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Two parallel tracks, one connection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4406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CBA19"/>
                </a:solidFill>
                <a:latin typeface="Segoe UI"/>
              </a:rPr>
              <a:t>WORKSTREAM 1</a:t>
            </a:r>
          </a:p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Data gathering, validation &amp; Data Hub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35584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29184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Define a metric for each goal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22776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8587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Source from public / internal / announcements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489704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425696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Clean, standardize &amp; validate with teams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056632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992624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Land it in the Hub as source of truth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22392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49824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2B57"/>
                </a:solidFill>
                <a:latin typeface="Segoe UI"/>
              </a:rPr>
              <a:t>Critical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65960"/>
            <a:ext cx="54406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96596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14884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CBA19"/>
                </a:solidFill>
                <a:latin typeface="Segoe UI"/>
              </a:rPr>
              <a:t>WORKSTREAM 2</a:t>
            </a:r>
          </a:p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Dashboard, reporting &amp; 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35584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329184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Connect the dashboard to the Hub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922776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38587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Report progress, flag gaps &amp; risks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489704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4425696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Add BC economic context snapshot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5056632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4992624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Deploy securely with government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422392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449824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A3D75"/>
                </a:solidFill>
                <a:latin typeface="Segoe UI"/>
              </a:rPr>
              <a:t>Follows the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Segoe UI"/>
              </a:rPr>
              <a:t>Both tracks meet at the Data Hub. Deployment with IT starts early, in parallel — not at the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How every metric is proposed &amp;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983" y="2103120"/>
            <a:ext cx="2103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5791" y="2304288"/>
            <a:ext cx="603504" cy="603504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5791" y="23042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" y="301752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Draft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One metric per goal, using a standard template</a:t>
            </a:r>
          </a:p>
        </p:txBody>
      </p:sp>
      <p:sp>
        <p:nvSpPr>
          <p:cNvPr id="13" name="Chevron 12"/>
          <p:cNvSpPr/>
          <p:nvPr/>
        </p:nvSpPr>
        <p:spPr>
          <a:xfrm>
            <a:off x="2438247" y="2761488"/>
            <a:ext cx="237744" cy="365760"/>
          </a:xfrm>
          <a:prstGeom prst="chevron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85135" y="2103120"/>
            <a:ext cx="2103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34943" y="2304288"/>
            <a:ext cx="603504" cy="6035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4943" y="23042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295" y="301752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Consult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Internal teams confirm it's meaningful &amp; feasible</a:t>
            </a:r>
          </a:p>
        </p:txBody>
      </p:sp>
      <p:sp>
        <p:nvSpPr>
          <p:cNvPr id="18" name="Chevron 17"/>
          <p:cNvSpPr/>
          <p:nvPr/>
        </p:nvSpPr>
        <p:spPr>
          <a:xfrm>
            <a:off x="4797399" y="2761488"/>
            <a:ext cx="237744" cy="365760"/>
          </a:xfrm>
          <a:prstGeom prst="chevron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4287" y="2103120"/>
            <a:ext cx="2103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4095" y="2304288"/>
            <a:ext cx="603504" cy="6035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4095" y="23042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447" y="301752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Revise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Refine based on team feedback</a:t>
            </a:r>
          </a:p>
        </p:txBody>
      </p:sp>
      <p:sp>
        <p:nvSpPr>
          <p:cNvPr id="23" name="Chevron 22"/>
          <p:cNvSpPr/>
          <p:nvPr/>
        </p:nvSpPr>
        <p:spPr>
          <a:xfrm>
            <a:off x="7156551" y="2761488"/>
            <a:ext cx="237744" cy="365760"/>
          </a:xfrm>
          <a:prstGeom prst="chevron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3439" y="2103120"/>
            <a:ext cx="2103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3247" y="2304288"/>
            <a:ext cx="603504" cy="6035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247" y="23042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0599" y="301752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Approve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Leadership signs off (Jacqueline)</a:t>
            </a:r>
          </a:p>
        </p:txBody>
      </p:sp>
      <p:sp>
        <p:nvSpPr>
          <p:cNvPr id="28" name="Chevron 27"/>
          <p:cNvSpPr/>
          <p:nvPr/>
        </p:nvSpPr>
        <p:spPr>
          <a:xfrm>
            <a:off x="9515703" y="2761488"/>
            <a:ext cx="237744" cy="365760"/>
          </a:xfrm>
          <a:prstGeom prst="chevron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62591" y="2103120"/>
            <a:ext cx="2103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2399" y="2304288"/>
            <a:ext cx="603504" cy="603504"/>
          </a:xfrm>
          <a:prstGeom prst="ellipse">
            <a:avLst/>
          </a:prstGeom>
          <a:solidFill>
            <a:srgbClr val="00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2399" y="23042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9751" y="3017520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Populate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Locked into the Data Hub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06240"/>
            <a:ext cx="11183112" cy="178308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CBA19"/>
                </a:solidFill>
                <a:latin typeface="Segoe UI"/>
              </a:rPr>
              <a:t>FOR EACH PROPOSED METRIC WE DOCUMENT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86460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4800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What it measures</a:t>
            </a:r>
          </a:p>
        </p:txBody>
      </p:sp>
      <p:sp>
        <p:nvSpPr>
          <p:cNvPr id="37" name="Oval 36"/>
          <p:cNvSpPr/>
          <p:nvPr/>
        </p:nvSpPr>
        <p:spPr>
          <a:xfrm>
            <a:off x="4434840" y="486460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4800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Why it's relevant</a:t>
            </a:r>
          </a:p>
        </p:txBody>
      </p:sp>
      <p:sp>
        <p:nvSpPr>
          <p:cNvPr id="39" name="Oval 38"/>
          <p:cNvSpPr/>
          <p:nvPr/>
        </p:nvSpPr>
        <p:spPr>
          <a:xfrm>
            <a:off x="8046720" y="486460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4800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Does reliable data exist?</a:t>
            </a:r>
          </a:p>
        </p:txBody>
      </p:sp>
      <p:sp>
        <p:nvSpPr>
          <p:cNvPr id="41" name="Oval 40"/>
          <p:cNvSpPr/>
          <p:nvPr/>
        </p:nvSpPr>
        <p:spPr>
          <a:xfrm>
            <a:off x="822960" y="536752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5303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Public or internal source?</a:t>
            </a:r>
          </a:p>
        </p:txBody>
      </p:sp>
      <p:sp>
        <p:nvSpPr>
          <p:cNvPr id="43" name="Oval 42"/>
          <p:cNvSpPr/>
          <p:nvPr/>
        </p:nvSpPr>
        <p:spPr>
          <a:xfrm>
            <a:off x="4434840" y="536752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0872" y="5303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Update frequency</a:t>
            </a:r>
          </a:p>
        </p:txBody>
      </p:sp>
      <p:sp>
        <p:nvSpPr>
          <p:cNvPr id="45" name="Oval 44"/>
          <p:cNvSpPr/>
          <p:nvPr/>
        </p:nvSpPr>
        <p:spPr>
          <a:xfrm>
            <a:off x="8046720" y="5367528"/>
            <a:ext cx="128016" cy="128016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5303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Limitations, gaps &amp;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Checkpoints, approvals &amp; who we engage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CBA19"/>
                </a:solidFill>
                <a:latin typeface="Segoe UI"/>
              </a:rPr>
              <a:t>FIVE CHECKPOINTS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85216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" y="2350008"/>
            <a:ext cx="777240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50008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31343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Metrics consultation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Internal teams confirm feasibility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585216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3099816"/>
            <a:ext cx="777240" cy="420624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9816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0632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Leadership metric sign-off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Approved set locked into Hub · Jacqueline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9896"/>
            <a:ext cx="585216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" y="3849624"/>
            <a:ext cx="777240" cy="42062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49624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8130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Data validation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Each dataset validated, marked approved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89704"/>
            <a:ext cx="585216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4599432"/>
            <a:ext cx="777240" cy="420624"/>
          </a:xfrm>
          <a:prstGeom prst="roundRect">
            <a:avLst>
              <a:gd name="adj" fmla="val 30000"/>
            </a:avLst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59943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56285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Deployment go / no-go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Hosting, access &amp; refresh · IT + Jacqueline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39512"/>
            <a:ext cx="585216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" y="5349240"/>
            <a:ext cx="777240" cy="420624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349240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531266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Executive review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Dashboard meets needs · continue /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8288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CBA19"/>
                </a:solidFill>
                <a:latin typeface="Segoe UI"/>
              </a:rPr>
              <a:t>WHO WE ENGAGE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2240280"/>
            <a:ext cx="5074920" cy="640080"/>
          </a:xfrm>
          <a:prstGeom prst="round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313432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Jacqueline   ·   Director — approval</a:t>
            </a:r>
          </a:p>
          <a:p>
            <a:pPr algn="l"/>
            <a:r>
              <a:rPr sz="1050" b="0" i="0">
                <a:solidFill>
                  <a:srgbClr val="C8D6E8"/>
                </a:solidFill>
                <a:latin typeface="Segoe UI"/>
              </a:rPr>
              <a:t>CP2 metrics · CP4 deploy · CP5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2990088"/>
            <a:ext cx="50749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063240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Daniel   ·   Analyst — data input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Sourcing, cleaning, validation into the Hub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739896"/>
            <a:ext cx="50749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813048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Nathan   ·   Technical / IT advice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Hosting, security &amp; deployment path (CP4)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489704"/>
            <a:ext cx="50749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562856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Internal teams / SMEs   ·   Validate &amp; confirm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CP1 consultation · data validation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5239512"/>
            <a:ext cx="50749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5312664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2B57"/>
                </a:solidFill>
                <a:latin typeface="Segoe UI"/>
              </a:rPr>
              <a:t>Mehdi   ·   Project lead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Design, coordination, delivery, narrative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One workflow, two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55648"/>
            <a:ext cx="237744" cy="2377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373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755648"/>
            <a:ext cx="237744" cy="23774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7373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Checkpoint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55648"/>
            <a:ext cx="237744" cy="237744"/>
          </a:xfrm>
          <a:prstGeom prst="roundRect">
            <a:avLst/>
          </a:prstGeom>
          <a:solidFill>
            <a:srgbClr val="002B57"/>
          </a:solidFill>
          <a:ln w="19050">
            <a:solidFill>
              <a:srgbClr val="FCB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7373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Deliverable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55648"/>
            <a:ext cx="237744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17373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Iteration  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14600"/>
            <a:ext cx="1965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51460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2B57"/>
                </a:solidFill>
                <a:latin typeface="Segoe UI"/>
              </a:rPr>
              <a:t>Draft metrics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one per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2514600"/>
            <a:ext cx="1965960" cy="89611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98064" y="251460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CP1 · Consult</a:t>
            </a:r>
          </a:p>
          <a:p>
            <a:pPr algn="ctr"/>
            <a:r>
              <a:rPr sz="950" b="0" i="0">
                <a:solidFill>
                  <a:srgbClr val="DCE7F5"/>
                </a:solidFill>
                <a:latin typeface="Segoe UI"/>
              </a:rPr>
              <a:t>teams &amp; SMEs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514600"/>
            <a:ext cx="1965960" cy="89611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251460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CP2 · Approve</a:t>
            </a:r>
          </a:p>
          <a:p>
            <a:pPr algn="ctr"/>
            <a:r>
              <a:rPr sz="950" b="0" i="0">
                <a:solidFill>
                  <a:srgbClr val="DCE7F5"/>
                </a:solidFill>
                <a:latin typeface="Segoe UI"/>
              </a:rPr>
              <a:t>metrics · Jacqueline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514600"/>
            <a:ext cx="1965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51460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2B57"/>
                </a:solidFill>
                <a:latin typeface="Segoe UI"/>
              </a:rPr>
              <a:t>Source · validate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clean data (CP3)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2514600"/>
            <a:ext cx="1965960" cy="896112"/>
          </a:xfrm>
          <a:prstGeom prst="roundRect">
            <a:avLst/>
          </a:prstGeom>
          <a:solidFill>
            <a:srgbClr val="002B57"/>
          </a:solidFill>
          <a:ln w="31750">
            <a:solidFill>
              <a:srgbClr val="FCB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18904" y="251460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★  DATA HUB</a:t>
            </a:r>
          </a:p>
          <a:p>
            <a:pPr algn="ctr"/>
            <a:r>
              <a:rPr sz="950" b="0" i="0">
                <a:solidFill>
                  <a:srgbClr val="FCBA19"/>
                </a:solidFill>
                <a:latin typeface="Segoe UI"/>
              </a:rPr>
              <a:t>source of truth</a:t>
            </a:r>
          </a:p>
        </p:txBody>
      </p:sp>
      <p:sp>
        <p:nvSpPr>
          <p:cNvPr id="27" name="Chevron 26"/>
          <p:cNvSpPr/>
          <p:nvPr/>
        </p:nvSpPr>
        <p:spPr>
          <a:xfrm>
            <a:off x="2487168" y="281635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4727448" y="281635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6967728" y="281635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9208008" y="281635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10328148" y="3447288"/>
            <a:ext cx="237744" cy="768096"/>
          </a:xfrm>
          <a:prstGeom prst="downArrow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64040" y="4251960"/>
            <a:ext cx="1965960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8904" y="425196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2B57"/>
                </a:solidFill>
                <a:latin typeface="Segoe UI"/>
              </a:rPr>
              <a:t>Build dashboard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connect to Hub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4251960"/>
            <a:ext cx="1965960" cy="896112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8624" y="425196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02B57"/>
                </a:solidFill>
                <a:latin typeface="Segoe UI"/>
              </a:rPr>
              <a:t>CP4 · Deploy</a:t>
            </a:r>
          </a:p>
          <a:p>
            <a:pPr algn="ctr"/>
            <a:r>
              <a:rPr sz="950" b="0" i="0">
                <a:solidFill>
                  <a:srgbClr val="002B57"/>
                </a:solidFill>
                <a:latin typeface="Segoe UI"/>
              </a:rPr>
              <a:t>IT go/no-go · Nathan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4251960"/>
            <a:ext cx="1965960" cy="896112"/>
          </a:xfrm>
          <a:prstGeom prst="roundRect">
            <a:avLst/>
          </a:prstGeom>
          <a:solidFill>
            <a:srgbClr val="002B57"/>
          </a:solidFill>
          <a:ln w="31750">
            <a:solidFill>
              <a:srgbClr val="FCB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38344" y="425196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★  DASHBOARD</a:t>
            </a:r>
          </a:p>
          <a:p>
            <a:pPr algn="ctr"/>
            <a:r>
              <a:rPr sz="950" b="0" i="0">
                <a:solidFill>
                  <a:srgbClr val="FCBA19"/>
                </a:solidFill>
                <a:latin typeface="Segoe UI"/>
              </a:rPr>
              <a:t>deployed to execs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251960"/>
            <a:ext cx="1965960" cy="89611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98064" y="4251960"/>
            <a:ext cx="1856232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CP5 · Review</a:t>
            </a:r>
          </a:p>
          <a:p>
            <a:pPr algn="ctr"/>
            <a:r>
              <a:rPr sz="950" b="0" i="0">
                <a:solidFill>
                  <a:srgbClr val="DCE7F5"/>
                </a:solidFill>
                <a:latin typeface="Segoe UI"/>
              </a:rPr>
              <a:t>executive feedback</a:t>
            </a:r>
          </a:p>
        </p:txBody>
      </p:sp>
      <p:sp>
        <p:nvSpPr>
          <p:cNvPr id="40" name="Chevron 39"/>
          <p:cNvSpPr/>
          <p:nvPr/>
        </p:nvSpPr>
        <p:spPr>
          <a:xfrm rot="10800000">
            <a:off x="9208008" y="455371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evron 40"/>
          <p:cNvSpPr/>
          <p:nvPr/>
        </p:nvSpPr>
        <p:spPr>
          <a:xfrm rot="10800000">
            <a:off x="6967728" y="455371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 rot="10800000">
            <a:off x="4727448" y="4553712"/>
            <a:ext cx="237744" cy="292608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3634740" y="5175504"/>
            <a:ext cx="182880" cy="676656"/>
          </a:xfrm>
          <a:prstGeom prst="downArrow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ft Arrow 43"/>
          <p:cNvSpPr/>
          <p:nvPr/>
        </p:nvSpPr>
        <p:spPr>
          <a:xfrm>
            <a:off x="502920" y="5806440"/>
            <a:ext cx="3726180" cy="457200"/>
          </a:xfrm>
          <a:prstGeom prst="leftArrow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80644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2B57"/>
                </a:solidFill>
                <a:latin typeface="Segoe UI"/>
              </a:rPr>
              <a:t>↻  ITERATE — refresh data &amp; metrics</a:t>
            </a:r>
          </a:p>
        </p:txBody>
      </p:sp>
      <p:sp>
        <p:nvSpPr>
          <p:cNvPr id="46" name="Up Arrow 45"/>
          <p:cNvSpPr/>
          <p:nvPr/>
        </p:nvSpPr>
        <p:spPr>
          <a:xfrm>
            <a:off x="1394460" y="3447288"/>
            <a:ext cx="182880" cy="2340864"/>
          </a:xfrm>
          <a:prstGeom prst="upArrow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5966460" y="3895344"/>
            <a:ext cx="3817620" cy="274320"/>
          </a:xfrm>
          <a:prstGeom prst="rightArrow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66460" y="3895344"/>
            <a:ext cx="38176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↻  refine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Segoe UI"/>
              </a:rPr>
              <a:t>A single flow with embedded checkpoints (CP1–CP5). Two iteration loops continuously refine the Data Hub and the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A realistic path to end of summer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999" y="2148840"/>
            <a:ext cx="11283696" cy="63500"/>
          </a:xfrm>
          <a:prstGeom prst="round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56435" y="1993392"/>
            <a:ext cx="292608" cy="292608"/>
          </a:xfrm>
          <a:prstGeom prst="ellipse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999" y="2514600"/>
            <a:ext cx="26974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999" y="2514600"/>
            <a:ext cx="2697480" cy="868680"/>
          </a:xfrm>
          <a:prstGeom prst="roundRect">
            <a:avLst>
              <a:gd name="adj" fmla="val 7000"/>
            </a:avLst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879" y="264261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IMMEDIATE</a:t>
            </a:r>
          </a:p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Weeks 1–2</a:t>
            </a:r>
          </a:p>
        </p:txBody>
      </p:sp>
      <p:sp>
        <p:nvSpPr>
          <p:cNvPr id="14" name="Oval 13"/>
          <p:cNvSpPr/>
          <p:nvPr/>
        </p:nvSpPr>
        <p:spPr>
          <a:xfrm>
            <a:off x="682599" y="3666744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199" y="36118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Lock scope &amp; draft metrics</a:t>
            </a:r>
          </a:p>
        </p:txBody>
      </p:sp>
      <p:sp>
        <p:nvSpPr>
          <p:cNvPr id="16" name="Oval 15"/>
          <p:cNvSpPr/>
          <p:nvPr/>
        </p:nvSpPr>
        <p:spPr>
          <a:xfrm>
            <a:off x="682599" y="4270248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199" y="42153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Confirm dataset owners</a:t>
            </a:r>
          </a:p>
        </p:txBody>
      </p:sp>
      <p:sp>
        <p:nvSpPr>
          <p:cNvPr id="18" name="Oval 17"/>
          <p:cNvSpPr/>
          <p:nvPr/>
        </p:nvSpPr>
        <p:spPr>
          <a:xfrm>
            <a:off x="682599" y="4873752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199" y="481888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Open IT / deployment talks</a:t>
            </a:r>
          </a:p>
        </p:txBody>
      </p:sp>
      <p:sp>
        <p:nvSpPr>
          <p:cNvPr id="20" name="Oval 19"/>
          <p:cNvSpPr/>
          <p:nvPr/>
        </p:nvSpPr>
        <p:spPr>
          <a:xfrm>
            <a:off x="4518507" y="199339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16071" y="2514600"/>
            <a:ext cx="26974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16071" y="2514600"/>
            <a:ext cx="2697480" cy="86868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8951" y="264261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SHORT-TERM</a:t>
            </a:r>
          </a:p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Weeks 3–5</a:t>
            </a:r>
          </a:p>
        </p:txBody>
      </p:sp>
      <p:sp>
        <p:nvSpPr>
          <p:cNvPr id="24" name="Oval 23"/>
          <p:cNvSpPr/>
          <p:nvPr/>
        </p:nvSpPr>
        <p:spPr>
          <a:xfrm>
            <a:off x="3544671" y="3666744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3271" y="36118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Consult teams (CP1)</a:t>
            </a:r>
          </a:p>
        </p:txBody>
      </p:sp>
      <p:sp>
        <p:nvSpPr>
          <p:cNvPr id="26" name="Oval 25"/>
          <p:cNvSpPr/>
          <p:nvPr/>
        </p:nvSpPr>
        <p:spPr>
          <a:xfrm>
            <a:off x="3544671" y="4270248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3271" y="42153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Leadership sign-off (CP2)</a:t>
            </a:r>
          </a:p>
        </p:txBody>
      </p:sp>
      <p:sp>
        <p:nvSpPr>
          <p:cNvPr id="28" name="Oval 27"/>
          <p:cNvSpPr/>
          <p:nvPr/>
        </p:nvSpPr>
        <p:spPr>
          <a:xfrm>
            <a:off x="3544671" y="4873752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3271" y="481888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First validated data in Hub</a:t>
            </a:r>
          </a:p>
        </p:txBody>
      </p:sp>
      <p:sp>
        <p:nvSpPr>
          <p:cNvPr id="30" name="Oval 29"/>
          <p:cNvSpPr/>
          <p:nvPr/>
        </p:nvSpPr>
        <p:spPr>
          <a:xfrm>
            <a:off x="7380579" y="1993392"/>
            <a:ext cx="292608" cy="292608"/>
          </a:xfrm>
          <a:prstGeom prst="ellipse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8143" y="2514600"/>
            <a:ext cx="26974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8143" y="2514600"/>
            <a:ext cx="2697480" cy="868680"/>
          </a:xfrm>
          <a:prstGeom prst="roundRect">
            <a:avLst>
              <a:gd name="adj" fmla="val 7000"/>
            </a:avLst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1023" y="264261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MEDIUM-TERM</a:t>
            </a:r>
          </a:p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Weeks 6–9</a:t>
            </a:r>
          </a:p>
        </p:txBody>
      </p:sp>
      <p:sp>
        <p:nvSpPr>
          <p:cNvPr id="34" name="Oval 33"/>
          <p:cNvSpPr/>
          <p:nvPr/>
        </p:nvSpPr>
        <p:spPr>
          <a:xfrm>
            <a:off x="6406743" y="3666744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5343" y="36118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Populate Hub across domains</a:t>
            </a:r>
          </a:p>
        </p:txBody>
      </p:sp>
      <p:sp>
        <p:nvSpPr>
          <p:cNvPr id="36" name="Oval 35"/>
          <p:cNvSpPr/>
          <p:nvPr/>
        </p:nvSpPr>
        <p:spPr>
          <a:xfrm>
            <a:off x="6406743" y="4270248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5343" y="42153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Build dashboard on real data</a:t>
            </a:r>
          </a:p>
        </p:txBody>
      </p:sp>
      <p:sp>
        <p:nvSpPr>
          <p:cNvPr id="38" name="Oval 37"/>
          <p:cNvSpPr/>
          <p:nvPr/>
        </p:nvSpPr>
        <p:spPr>
          <a:xfrm>
            <a:off x="6406743" y="4873752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5343" y="481888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Deployment go/no-go (CP4)</a:t>
            </a:r>
          </a:p>
        </p:txBody>
      </p:sp>
      <p:sp>
        <p:nvSpPr>
          <p:cNvPr id="40" name="Oval 39"/>
          <p:cNvSpPr/>
          <p:nvPr/>
        </p:nvSpPr>
        <p:spPr>
          <a:xfrm>
            <a:off x="10242651" y="199339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40215" y="2514600"/>
            <a:ext cx="26974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40215" y="2514600"/>
            <a:ext cx="2697480" cy="86868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3095" y="2642616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END OF SUMMER</a:t>
            </a:r>
          </a:p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Weeks 10–12</a:t>
            </a:r>
          </a:p>
        </p:txBody>
      </p:sp>
      <p:sp>
        <p:nvSpPr>
          <p:cNvPr id="44" name="Oval 43"/>
          <p:cNvSpPr/>
          <p:nvPr/>
        </p:nvSpPr>
        <p:spPr>
          <a:xfrm>
            <a:off x="9268815" y="3666744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7415" y="36118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Deploy to internal users</a:t>
            </a:r>
          </a:p>
        </p:txBody>
      </p:sp>
      <p:sp>
        <p:nvSpPr>
          <p:cNvPr id="46" name="Oval 45"/>
          <p:cNvSpPr/>
          <p:nvPr/>
        </p:nvSpPr>
        <p:spPr>
          <a:xfrm>
            <a:off x="9268815" y="4270248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97415" y="42153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Executive review (CP5)</a:t>
            </a:r>
          </a:p>
        </p:txBody>
      </p:sp>
      <p:sp>
        <p:nvSpPr>
          <p:cNvPr id="48" name="Oval 47"/>
          <p:cNvSpPr/>
          <p:nvPr/>
        </p:nvSpPr>
        <p:spPr>
          <a:xfrm>
            <a:off x="9268815" y="4873752"/>
            <a:ext cx="118872" cy="118872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7415" y="4818888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Iterate to refined v1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Segoe UI"/>
              </a:rPr>
              <a:t>Checkpoints gate progress:  CP1 → CP2 → CP3 → CP4 → CP5.  Deployment depends on IT provisioning (start early).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66928"/>
            <a:ext cx="64008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BA19"/>
                </a:solidFill>
                <a:latin typeface="Segoe UI"/>
              </a:rPr>
              <a:t>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B57"/>
                </a:solidFill>
                <a:latin typeface="Segoe UI Light"/>
              </a:rPr>
              <a:t>Main bottlenecks &amp; how we manage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Look West Monitoring Dashboard &amp; Data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36118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2313432"/>
            <a:ext cx="45720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Finding reliable data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Prefer public sources; allow internal/proxy metrics; flag gaps openly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057400"/>
            <a:ext cx="36118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2313432"/>
            <a:ext cx="45720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514600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Validating credibility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SME validation before any figure enters the 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057400"/>
            <a:ext cx="36118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30184" y="2313432"/>
            <a:ext cx="45720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514600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Timely team input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Owner packets + biweekly check-ins; escalate when blocked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36118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" y="4279392"/>
            <a:ext cx="45720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480560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Leadership approval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Early consultation so sign-off is a confirmation, not a debate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4023360"/>
            <a:ext cx="36118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4279392"/>
            <a:ext cx="45720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480560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Clean, reliable Hub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Controlled vocabularies, ownership, periodic clean-up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4023360"/>
            <a:ext cx="36118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30184" y="4279392"/>
            <a:ext cx="457200" cy="635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4480560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2B57"/>
                </a:solidFill>
                <a:latin typeface="Segoe UI"/>
              </a:rPr>
              <a:t>Deploying the dashboard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Engage government IT early, in parallel (key bottleneck)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2B57"/>
              </a:gs>
              <a:gs pos="100000">
                <a:srgbClr val="0A3D75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1097280" cy="76200"/>
          </a:xfrm>
          <a:prstGeom prst="round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 Light"/>
              </a:rPr>
              <a:t>Immediate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2B57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9456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Confirm dataset owners</a:t>
            </a:r>
          </a:p>
          <a:p>
            <a:pPr algn="l"/>
            <a:r>
              <a:rPr sz="1250" b="0" i="0">
                <a:solidFill>
                  <a:srgbClr val="C0CEE0"/>
                </a:solidFill>
                <a:latin typeface="Segoe UI"/>
              </a:rPr>
              <a:t>From the Workflow &amp; Ownership Registry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2B57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9456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Draft metrics per goal</a:t>
            </a:r>
          </a:p>
          <a:p>
            <a:pPr algn="l"/>
            <a:r>
              <a:rPr sz="1250" b="0" i="0">
                <a:solidFill>
                  <a:srgbClr val="C0CEE0"/>
                </a:solidFill>
                <a:latin typeface="Segoe UI"/>
              </a:rPr>
              <a:t>Mehdi + Daniel, using the standard template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03320"/>
            <a:ext cx="640080" cy="640080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2B57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1188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Open deployment talks</a:t>
            </a:r>
          </a:p>
          <a:p>
            <a:pPr algn="l"/>
            <a:r>
              <a:rPr sz="1250" b="0" i="0">
                <a:solidFill>
                  <a:srgbClr val="C0CEE0"/>
                </a:solidFill>
                <a:latin typeface="Segoe UI"/>
              </a:rPr>
              <a:t>Nathan / government IT — start in parallel now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3703320"/>
            <a:ext cx="640080" cy="640080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2B57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1188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Schedule consultation (CP1)</a:t>
            </a:r>
          </a:p>
          <a:p>
            <a:pPr algn="l"/>
            <a:r>
              <a:rPr sz="1250" b="0" i="0">
                <a:solidFill>
                  <a:srgbClr val="C0CEE0"/>
                </a:solidFill>
                <a:latin typeface="Segoe UI"/>
              </a:rPr>
              <a:t>Internal teams &amp; SMEs confirm metrics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2B57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2920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Book leadership sign-off (CP2)</a:t>
            </a:r>
          </a:p>
          <a:p>
            <a:pPr algn="l"/>
            <a:r>
              <a:rPr sz="1250" b="0" i="0">
                <a:solidFill>
                  <a:srgbClr val="C0CEE0"/>
                </a:solidFill>
                <a:latin typeface="Segoe UI"/>
              </a:rPr>
              <a:t>Lock the approved metric set with Jacqueline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5120640"/>
            <a:ext cx="640080" cy="640080"/>
          </a:xfrm>
          <a:prstGeom prst="ellipse">
            <a:avLst/>
          </a:prstGeom>
          <a:solidFill>
            <a:srgbClr val="FCB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2B57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02920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Stand up the cadence</a:t>
            </a:r>
          </a:p>
          <a:p>
            <a:pPr algn="l"/>
            <a:r>
              <a:rPr sz="1250" b="0" i="0">
                <a:solidFill>
                  <a:srgbClr val="C0CEE0"/>
                </a:solidFill>
                <a:latin typeface="Segoe UI"/>
              </a:rPr>
              <a:t>Weekly internal sync + biweekly owner check-ins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CBA19"/>
                </a:solidFill>
                <a:latin typeface="Segoe UI"/>
              </a:rPr>
              <a:t>Target: process streamlined and dashboard deployed by end of summer.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
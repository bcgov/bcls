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73152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500" b="1" i="0">
                <a:solidFill>
                  <a:srgbClr val="FCBA19"/>
                </a:solidFill>
                <a:latin typeface="Segoe UI"/>
              </a:rPr>
              <a:t>BC LOOK WEST MONITOR DASHBOARD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A Guide to the What &amp; Why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700" b="0" i="0">
                <a:solidFill>
                  <a:srgbClr val="C8D6E8"/>
                </a:solidFill>
                <a:latin typeface="Segoe UI"/>
              </a:rPr>
              <a:t>How to read every page, section, and metric — and why we measure what we measure.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17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200" b="0" i="0">
                <a:solidFill>
                  <a:srgbClr val="AFC2D8"/>
                </a:solidFill>
                <a:latin typeface="Segoe UI"/>
              </a:rPr>
              <a:t>Government of British Columbia · Ministry of Jobs and Economic Growth · Economic Strategy Branch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200" b="0" i="0">
                <a:solidFill>
                  <a:srgbClr val="AFC2D8"/>
                </a:solidFill>
                <a:latin typeface="Segoe UI"/>
              </a:rPr>
              <a:t>Standalone reference — designed to be read on its own, no presenter required.</a:t>
            </a:r>
          </a:p>
          <a:p>
            <a:pPr algn="l">
              <a:spcBef>
                <a:spcPts val="400"/>
              </a:spcBef>
              <a:spcAft>
                <a:spcPts val="300"/>
              </a:spcAft>
            </a:pPr>
            <a:r>
              <a:rPr sz="1200" b="0" i="0">
                <a:solidFill>
                  <a:srgbClr val="AFC2D8"/>
                </a:solidFill>
                <a:latin typeface="Segoe UI"/>
              </a:rPr>
              <a:t>Screenshot placeholders throughout: capture the noted view and drop it into each frame.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ORIENTATION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How to use this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PURPOSE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This deck explains the reasoning behind the dashboard — what each screen is for, which metrics it shows, and why those metrics (and not others) were chosen. It is documentation, not a live report.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HOW EACH PAGE SLIDE IS BUILT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WHAT IT SHOWS — the sections, KPIs, and tables on that screen.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WHY THESE METRICS — the decision each metric supports.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WHY NOT OTHERS — what we deliberately left out, and why.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SCREENSHOT — a placeholder telling you exactly which view to capture.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FILLING IN SCREENSHOTS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Every dashed box is a placeholder. Capture the described view from the live dashboard and paste it over the box. Nothing is embedded yet — the captions tell you what to grab.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HOW TO OPEN THE DASHBOARD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Double-click BC_Dashboard_App.bat (or run python scripts/serve.py); it opens the dashboard at http://localhost:8080/dashboard/hub/html/dashboard.html. Full step-by-step setup is in Appendix 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hub landing view (BC Look West Monitor Dashboard) with the top navigation bar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THE BIG PICTURE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What is the BC Look West Monitor Dashboard?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One dashboard covering B.C.'s economy and the Look West strategy. It opens on a home view and you move between its pages from the top navigation bar — there are no separate apps to open.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WHO IT IS FOR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B.C. government executives and ministry staff. It is a leadership-facing situational-awareness tool (navy/gold government branding), not a public consumer product.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FOUR THINGS IT ANSWERS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Where does the economy stand today? (Snapshot — GDP, labour, and trade)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Is the Look West strategy delivering? (Strategy Monitor, Goals &amp; Trackers)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How are individual industries doing? (Sectors)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How are major projects progressing? (Projects)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ONE APP, SEVERAL PAGES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dashboard is built as one home page plus a set of pages (Snapshot, Strategy Monitor, Goals Tracker, Sectors, Projects). The home page loads each page inline, so a page can be updated on its own without affecting the 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dashboard's home view with the four top-nav items — Snapshot · Strategy Monitor · Goals Tracker ·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THE BIG PICTURE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Navigation map — how the dashboard is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TOP NAVIGATION (4 ITEMS)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Snapshot → BC Economy Snapshot (GDP, labour, trade — live StatCan).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Strategy Monitor → Look West Strategy delivery KPIs &amp; records.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Goals Tracker → Look West goal-level progress.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More → a dropdown for everything else.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UNDER "MORE"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Explore: Sectors (industry profiles) and Projects (major project portfolio).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Look West Trackers: Targets (active), plus Policy, Funding, Infrastructure and Investment-Promotion trackers (built, currently inactive).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ONE CONSOLIDATED APP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This is now a single dashboard — the four top entries above are the whole product. Forecast and trade detail live inside the Snapshot rather than as separate dashboards.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HOW ROUTING WORKS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Sections switch in place (no reload) via ?section= URL parameters; sector drill-down uses ?sector=; the header pill shows the active section.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"More" dropdown open, showing Explore (Sectors, Projects) and the Look West Trackers group.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THE STRATEGY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The Look West strategy — the spine of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"Look West" is a B.C. economic strategy. Its delivery is tracked across three areas of the hub: the Strategy Monitor, the Goals Tracker, and the Look West Trackers under More.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FOUR PILLARS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Strengthening Our Workforce — skills, training, apprenticeships, credentials.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Delivering Major Projects Faster — permitting, approvals, infrastructure.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Diversifying Markets — exports, trade missions, Indo-Pacific.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Growing Targeted Sectors — sector growth (default classification).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HOW EVERY RECORD IS TAGGED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Each Look West record carries the same five dimensions — Stream, Pillar, Theme, Sector, Region — plus a Lead Ministry and a linked Announcement (its evidence). This shared taxonomy is what lets one metric be sliced many ways without inventing new metrics.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TARGETS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Economic outcomes: jobs created &amp; protected, funding/investment mobilized, and goals achieved against 2030 ambitions.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Strategy Monitor header ("Look West Strategy") plus the Strategic-outcomes hero cards.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PHILOSOPHY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Why we measure what we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OUTCOME OVER ACTIVITY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strategy is judged on results a leader is accountable for — jobs, money mobilized, goals hit. So those are the three headline (Level-1) metrics. Activity counts sit one tier down.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EVERY NUMBER IS EVIDENCE-LINKED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Each figure rolls up from dated source records (announcements, tracker updates). That traceability is why a "Data coverage" tier and a "Data Inventory" drill-down sit right beside the outcomes — you can always see what a number is made of.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COMMITMENT VS. REALIZED ARE KEPT SEPARATE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Planned money (Total Commitment / Estimated Value) is never mixed with delivered money (Investment Attracted, transaction Amounts). Confusing the two would overstate progress.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ONE TAXONOMY, MANY CUTS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Because every record is tagged Stream/Pillar/Theme/Sector/Region, the same outcomes power every chart and filter — more views, not more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892040"/>
            <a:ext cx="11155680" cy="123444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Strategy Delivery Snapshot showing both tiers — Strategic outcomes (3 hero cards) above Data coverage (9 mini cards).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PHILOSOPHY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Why we do NOT show certain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NO VANITY / ACTIVITY-ONLY METRICS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Meetings held, page views, and similar counts don't evidence economic outcomes, so they're excluded from headline KPIs.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NO UNSOURCED OR MODELLED NUMBERS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If a target has no quantified tracker data, the Monitor flags it as a "Data Gap" rather than filling it with an estimate. Honest gaps beat false precision.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NO DOUBLE COUNTING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Funding programs are counted by distinct Program ID; jobs and dollars are summed only from their source rows, so the same commitment isn't tallied twice.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NO PER-SUBSECTOR CHART SPRAWL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Sector dashboards report at the sector level by design — subsector detail is summarized inline to avoid noise and visual overload.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NO LITERAL "CAPEX" 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source data records commitments, not audited capital spend. Capital is therefore expressed as Total Estimated Value (infrastructure), Total Commitment Value (funding / major projects) and Estimated Value (investment promotion) — see the glossary.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2011680" cy="82296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1" i="0">
                <a:solidFill>
                  <a:srgbClr val="FCBA19"/>
                </a:solidFill>
                <a:latin typeface="Segoe UI"/>
              </a:rPr>
              <a:t>SECTION 1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BC Economy Snapshot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C8D6E8"/>
                </a:solidFill>
                <a:latin typeface="Segoe UI"/>
              </a:rPr>
              <a:t>The default landing view — the current and historical state of B.C.'s economy, live from Statistics Canada.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BC ECONOMY SNAPSHOT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Overview — where the economy stands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THIS PAGE ACCOMPLISHES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Answers "What is the current and historical state of B.C.'s economy?" across GDP, the labour market, inflation, and trade — always current, pulled live from Statistics Canada.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WHO IT'S FOR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Economic analysts and policy/communications staff who need an at-a-glance, up-to-date read to monitor economic health and frame narratives.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IT LEADS THE DASHBOARD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Macro context sets the stage: you read strategy delivery and sector performance against the backdrop of the broader economy.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DATA &amp; REFRESH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Live via the Statistics Canada Web Data Service (hard-coded vector IDs). An "Update Data" button fetches the latest; on localhost it routes through a proxy to avoid CORS.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full BC Economy Snapshot page (KPI row + charts) after clicking Update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BC ECONOMY SNAPSHOT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The 8 headline indicators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An eight-card KPI strip, each with the latest value, month-over-month / year-over-year change, the period, and the StatCan source table.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INDICATORS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GDP (Current $) — real &amp; nominal · table 36-10-0711-01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Inflation (CPI) — MoM &amp; YoY · 18-10-0004-01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Employment · Unemployment Rate · Labour Force — 14-10-0355-01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International Exports · Imports · Trade Balance — 36-10-0709-01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THESE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They are the canonical vital signs of an economy — output, prices, jobs, and external trade. Together they give a complete, defensible one-line health check.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THE SOURCE TAGS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Every card names its StatCan table so the number is auditable and reproducible — consistent with the evidence-linked principle.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8-card KPI strip at the top of the Snapshot page (show the source-table tags).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BC ECONOMY SNAPSHOT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The charts — trends behind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LABOUR &amp; GDP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"Employment — British Columbia" (monthly, seasonally adjusted); "GDP — British Columbia" with a Chained (2017) $ / Current $ toggle; and "GDP Share by Industry" for the most recent year.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INFLATION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"Consumer Price Index" (YoY %, against the Bank of Canada 2% target) and "Contributions to YoY CPI Inflation" broken into food, energy, goods, services, and shelter.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TRADE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"Interprovincial Trade" and "International Trade" — exports &amp; imports as lines with the net balance as bars, in CAD billions.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INDUSTRY MOVERS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"Top 5 Expanded and Contracted Industries (Month-over-Month)" table with a month selector — what's driving employment change right now.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CPI chart and the Top-5 industry-movers table (with the month selector visible).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2011680" cy="82296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1" i="0">
                <a:solidFill>
                  <a:srgbClr val="FCBA19"/>
                </a:solidFill>
                <a:latin typeface="Segoe UI"/>
              </a:rPr>
              <a:t>SECTION 2 — THE CORE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Look West Strategy Monitor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C8D6E8"/>
                </a:solidFill>
                <a:latin typeface="Segoe UI"/>
              </a:rPr>
              <a:t>The strategy delivery snapshot: are we creating jobs, mobilizing money, and hitting our goals — and is it all backed by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Overview — the delivery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THIS PAGE ACCOMPLISHES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single answer to "Is Look West delivering?" It integrates strategy, announcements, funding, and policy records into one snapshot: headline outcomes on top, data coverage beneath, then the supporting records and a full drill-down.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PAGE ORDER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Strategy Delivery Snapshot (two-level KPIs)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Investment &amp; Project Pipeline (charts)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Media Coverage (Announcements + News)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Investment &amp; Project Pipeline (table)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Policy &amp; Regulations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Data Inventory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TWO TIERS OF KPIS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Level 1 answers "how are we doing?" (outcomes); Level 2 answers "how much of the strategy is actually captured in data?" (coverage). Coverage sits below outcomes so leaders trust the top line.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DATA &amp; REFRESH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Reads 13 CSVs, merged into integrated media / funding / policy views. "Update Data" refreshes and caches to the browser (localStorage); a cached view shows instantly, then refreshes 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full Strategy Monitor page, top to bottom (or a tall scroll capture).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 · LEVEL 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Hero card — Jobs Created &amp; Protected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One headline number: jobs created + jobs protected, with the split shown beneath ("X created · Y protected").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WHERE IT COMES FROM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Summed across the integrated funding records — Funding Programs, Major Projects, and Infrastructures carry job figures (Investment Promotion contributes none).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THIS METRIC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Jobs are the most tangible, most-communicated outcome of an economic strategy — the first question leadership and the public ask.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CREATED AND PROTECTED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Retaining an at-risk job is as real an outcome as creating a new one; keeping them visible but distinct prevents over- or under-claiming.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NOT OTHERS HERE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We don't headline modelled "induced" jobs or FTE estimates — only jobs attributable to tracked records, to keep the number defensible.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"Jobs Created &amp; Protected" hero card (with the created/protected split line).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 · LEVEL 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Hero card — Total Funding Programs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total committed value across all funding programs, with a note "Committed across N funding programs" (N = distinct Program IDs).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WHERE IT COMES FROM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Sum of "Total Commitment Value" in Funding Programs.csv.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THIS METRIC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expresses the financial weight the government has put behind the strategy — the single best proxy for scale of intervention.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"COMMITTED", NOT "SPENT"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source data records commitments; showing committed value (clearly labelled) avoids implying money is already out the door. Delivered dollars appear separately as transaction Amounts and Investment Attracted.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DISTINCT PROGRAM IDS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Counting unique programs prevents multi-row programs from inflating the count — a guard against double counting.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"Total Funding Programs Value" hero card (with the "across N programs" note).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 · LEVEL 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Hero card — Goals Achieved (the 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progress ring: goals achieved / total goals, with the percentage in the center. Total = all Look West goals; achieved = goals whose Progress Status reads complete / achieved / met / done.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WHERE IT COMES FROM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LW Goals.csv (total and status).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THIS METRIC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ties the whole strategy back to its stated commitments — a direct read on "are we finishing what we said we'd do?"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A RING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ratio needs a denominator to mean anything; the ring shows achieved against the full set at a glance, not an absolute count in isolation.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STATUS-BASED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Achievement is read from the goal's own recorded status rather than inferred, keeping it consistent with how owners report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"Goals Achieved" ring card (show the X / Y and the % in the ring).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 · LEVEL 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Data coverage — the 9 mini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Nine small count cards: Action Plans, Targets, Goals, Metrics Monitored, Announcements, Policy &amp; Regulation, Funding Programs, Infrastructures, Investment Promotions.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A WHOLE TIER OF COUNTS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They answer "how much of the strategy is actually captured in data?" A confident headline number is only trustworthy if you can see the breadth of records behind it.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EACH COUNT MEANS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Action Plans / Targets / Goals — the strategy's stated intent.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Metrics Monitored — the goal metrics being tracked over time.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Announcements — the evidence trail.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Policy, Funding, Infrastructure, Investment Promotion — the instruments of delivery.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NOT MORE DETAIL HERE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This tier is deliberately just counts — the detail lives in the tables and the Data Inventory below. It's a coverage gauge, not a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"Data coverage" row of 9 mini count cards.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Investment &amp; Project Pipeline — the chart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configurable set of 13 charts (a "Select Charts" gear toggles each). They cut the pipeline by funding source, sector, region, project status, plus policy and target activity.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REPRESENTATIVE CHARTS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Funding Programs: Total Commitment by Funding Source ($M) — stacked &amp; doughnut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Infrastructures: Estimated Value by Category / by Region ($M)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Investment Promotion: Estimated Value by Sector; Initiative Mix by Status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Major Projects: Commitment vs Jobs by project (combo)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Policy &amp; Regulations and Targets: counts by type / pillar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THESE CHARTS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Executives ask "where is the money concentrated, and what underpins it?" Each chart is one slice of that question — source, sector, region, status.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CONFIGURABLE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Different briefings need different cuts; letting users hide charts (saved locally) keeps the view focused without removing options.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Investment &amp; Project Pipeline chart grid with the "Select Charts" panel open.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Media Coverage — Announcements &amp; News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Two sortable, paginated tables — Announcements and News — each filterable by Source, Pillar, and Theme with free-text search.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COLUMNS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Date · Source · Pillar · Theme · Headline/Title · Sector · Region. Headlines link out to the source; hovering shows the key message.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IT'S HERE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is the evidence layer: the announcements and news that substantiate the KPIs above. Every headline is classified to a pillar and theme so activity maps to strategy.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PILLAR/THEME TAGGING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converts a stream of news into structured signal — you can see which pillar is generating momentum, not just that "something happened."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Media Coverage section — the Announcements table with its Source/Pillar/Theme filters.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Investment &amp; Project Pipeline —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record-level funding table: one row per funding program / major project / infrastructure item / investment-promotion initiative.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COLUMNS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Date · Project / Program · Pillar · Theme · Provincial ($M) · Attracted ($M) · Federal ($M) · Other ($M) · Total ($M) · Jobs Created · Region.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SPLIT MONEY BY SOURCE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Provincial / Federal / Attracted / Other shows who is paying — a provincial dollar and an attracted private dollar mean very different things for leverage.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ONE INTEGRATED TABLE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Programs, projects, infrastructure, and promotion are all "money in motion"; unifying them lets leaders see the whole pipeline in one place, project by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Investment &amp; Project Pipeline table showing the funding-source columns and Jobs Created.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Policy &amp; Regulations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sortable, paginated table of policy and regulatory changes affecting Look West sectors, filterable by Jurisdiction, LW Sector, and Policy Type.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COLUMNS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Date Announced · Policy / Regulation · Jurisdiction · LW Sector · Policy Type · LW Outcome Area · Source.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IT'S HERE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Strategy delivery isn't only money — the rules of the game matter. This tracks the regulatory tailwinds and headwinds behind sector growth.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"LW OUTCOME AREA"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ties each policy change back to the outcome it is meant to move, so regulation is read as a lever on the strategy, not as standalone legal news.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Policy &amp; Regulations table with its Jurisdiction / Sector / Policy-Type filters.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STRATEGY MONITOR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Data Inventory — the drill-down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Nine collapsible sections — one per dataset — each with a record-count badge and a compact table of the actual items behind the KPIs.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NINE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Action Plans · Targets · Goals · Metrics Monitored · Announcements · Policy &amp; Regulations · Funding Programs · Infrastructures · Investment Promotions.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IT EXISTS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is the audit view. Every headline number can be opened up to the raw records that compose it — the practical expression of "evidence-linked."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COLLAPSIBLE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Depth on demand: the page stays scannable, but the full dataset is one click away when someone asks "what's actually in there?"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Data Inventory with two or three sections expanded to show their record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2011680" cy="82296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1" i="0">
                <a:solidFill>
                  <a:srgbClr val="FCBA19"/>
                </a:solidFill>
                <a:latin typeface="Segoe UI"/>
              </a:rPr>
              <a:t>SECTION 3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Look West Goals &amp; Trackers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C8D6E8"/>
                </a:solidFill>
                <a:latin typeface="Segoe UI"/>
              </a:rPr>
              <a:t>The working layer beneath the Monitor — where targets, goals, and each delivery instrument are managed record by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LOOK WEST TRACKERS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The Tracker workspace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THIS AREA 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dedicated workspace ("Look West Tracker") that opens individual tracker pages in a card grid. It's where the detail behind the Strategy Monitor lives.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WHAT'S ACTIVE VS BUILT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Targets and Goals trackers are active/clickable. Policy, Funding &amp; Investment, Infrastructure, and Investment Promotion trackers are fully built but currently shown as inactive.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STAGED ACTIVATION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Enabling trackers as their data and workflows mature avoids exposing half-populated pages — coverage before promotion.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SHARED DESIGN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Every tracker follows the same pattern: KPI strip → "insight" cards (most-tracked / least-tracked) → charts → a filterable, searchable record table, using the common Stream/Pillar/Theme/Sector/Region taxonomy.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Look West Tracker hub — the card grid (note the active vs. inactive cards).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LOOK WEST TRACKERS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Goals Tracker &amp; Targets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GOALS TRACKER — WHAT &amp; WHY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Goal-level progress grouped under each parent target; each goal card summarizes up to three tracked metrics (primary shown largest, Yes/No shown as milestones) with a narrative. KPIs: Goals, Targets Covered, Goals With Data, On Track/Advanced, At Risk.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"GOALS WITH DATA" AND "AT RISK"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They surface coverage gaps and problems early — the tracker is a management tool, so it flags what needs attention, not just what's going well.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TARGETS TRACKER — WHAT &amp; WHY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analytical view of targets and their linked tracker rows: distribution charts, attention lists, and a detailed table with the economic-outcome columns.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OUTCOME COLUMNS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Jobs Created · Jobs Saved · Investment Attracted ($M) · Revenue to BC GDP ($M) · Revenue to BC Gov ($M) — the recurring outcome quartet, captured at the record 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a Goals Tracker goal card (metric + status + narrative) and the Targets Tracker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LOOK WEST TRACKERS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Monitor page — the per-target executive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One card per Look West target: rolled-up status, an investment and jobs signal, owner, and a qualitative narrative where quantified data is missing. KPIs: Targets in View, In Progress, Complete, Data Gaps, Investment Attracted, Jobs Created.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"DATA GAPS" IS A KPI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makes missing evidence a first-class fact. Rather than hide targets without numbers, the page counts them — so gaps get managed, not ignored.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A NARRATIVE FIELD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Not every outcome is quantified yet; a short narrative keeps qualitative progress visible without faking a metric.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RELATIONSHIP TO THE MONITOR PAGE ABOVE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This is the target-by-target companion to the Strategy Monitor's portfolio view — same philosophy, finer grain.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Monitor page — the KPI row plus two or three target cards (show a Data-Gap flag).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LOOK WEST TRACKERS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Funding, Infrastructure &amp; Investment-Promotion trackers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FUNDING &amp; INVESTMENT TRACKER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Follows programs from commitment to transaction. KPIs: Funding Programs, Total Committed Value, Programs with Linked Transactions, Reported Transaction Amount. Answers "is committed money actually flowing?"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INFRASTRUCTURE TRACKER — AND CAPEX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Tracks initiatives across planning, procurement, and delivery. Its "Total Estimated Value ($M)" is the closest thing to a CAPEX figure anywhere in the dashboard — the capital cost of infrastructure. Plus Reported Transaction Amount for delivered spend.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INVESTMENT PROMOTION TRACKER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Lead-to-conversion pipeline. KPIs: Promotion Initiatives, Estimated Pipeline Value, Reported Investment Attracted — separating pipeline (estimated) from realized (attracted).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COMMITMENT VS TRANSACTION EVERYWHERE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Each tracker pairs a planned figure with a delivered figure so progress is never overstated — the same discipline as the headline KPIs.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Infrastructure Tracker — its KPI strip (Total Estimated Value) and the transactions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LOOK WEST TRACKERS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Policy &amp; Regulations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SHOWS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Policy/regulation items through their implementation lifecycle — status, accountable ministry, implementation stage, linked announcement evidence, and any reported economic impact. KPIs: Policy/Regulation Items, Relevant Announcements, Items with Linked Tracking.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OUTCOME COLUMNS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Investment Attracted ($M), Revenue to BC GDP ($M), Revenue to BC Gov ($M) appear where a policy change has a measurable economic effect.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TRACK POLICY LIKE A PROJECT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Regulatory change is a delivery instrument of the strategy; giving it a lifecycle, an owner, and evidence treats it with the same rigour as funding and infrastructure.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"ITEMS WITH LINKED TRACKING"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shows how many policy items actually have follow-up evidence — a coverage check, mirroring the Monitor's Data-Gap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Policy &amp; Regulations Tracker table with its lifecycle columns and filters.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2011680" cy="82296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1" i="0">
                <a:solidFill>
                  <a:srgbClr val="FCBA19"/>
                </a:solidFill>
                <a:latin typeface="Segoe UI"/>
              </a:rPr>
              <a:t>SECTION 4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Projects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C8D6E8"/>
                </a:solidFill>
                <a:latin typeface="Segoe UI"/>
              </a:rPr>
              <a:t>Major-project portfolio monitoring — commitments, jobs, and contribution, on a map and in the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PROJECTS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Overview &amp; the Project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THIS PAGE ACCOMPLISHES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Portfolio monitoring for B.C.'s major projects — pairing a portfolio reference table with an announcement-level tracker, tied together by an interactive B.C. map and an investment/GDP chart.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SIX KPI CARDS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Projects in View · Jobs Created / Protected · Investment Attracted · GDP Contribution · Gov Revenue Contribution · Ministries Involved — all computed over the current filter.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THESE METRICS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Major projects are judged on scale (commitment), impact (jobs, GDP, government revenue), and breadth (ministries involved). Together they show both the size and the payoff of the portfolio.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VALUE VS. CAPEX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Project scale is shown as "Total Commitment ($M)"; realized effect as "Investment Attracted to B.C. ($M)" at the tracker level — again, commitment kept distinct from realized.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Projects page — the six-card Project Snapshot and the B.C. 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PROJECTS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Map, chart &amp; the two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PROJECT FOOTPRINT IN B.C.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An interactive map of project points by region, colored by status; click a point to filter. Answers "where is activity concentrated geographically?"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INVESTMENT AND GDP BY PROJECT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horizontal bar chart pairing Investment Attracted ($M) and GDP Contribution ($M) per project — value against economic return, side by side.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MAJOR PROJECTS TABLE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portfolio reference: Project · Region · Status · Total Commitment ($M) · Jobs Created · Jobs Protected · Lead Ministry · Date Announced.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MAJOR PROJECT TRACKER TABLE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Announcement-level changes: What Changed · Next Step · Investment Attracted · Jobs · GDP Contribution · Gov Revenue Contribution — the running record behind each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map + the Investment/GDP chart, and the top of the Major Projects 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2011680" cy="82296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1" i="0">
                <a:solidFill>
                  <a:srgbClr val="FCBA19"/>
                </a:solidFill>
                <a:latin typeface="Segoe UI"/>
              </a:rPr>
              <a:t>SECTION 5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Industry Sectors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C8D6E8"/>
                </a:solidFill>
                <a:latin typeface="Segoe UI"/>
              </a:rPr>
              <a:t>Per-industry economic profiles tied to Look West goals — deep where the data supports it, honest where it doesn't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SECTORS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Overview &amp; the sector-page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THIS AREA 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hub grid of B.C. industry sectors; each opens a sector dashboard profiling the industry and its Look West goals.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TEMPLATE (IN ORDER)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Sector Definition — a plain-language scope plus a subsector/NAICS table.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Sector Snapshot — real GDP and business counts by subsector, with trend charts (live StatCan).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Look West Strategy — goal cards with RAG status and progress bars.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Commitments — the strategy commitments for that sector.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Relevant Announcements — filtered to the sector.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DEFINITION FIRST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Sector boundaries (NAICS) are contested; stating the definition up front makes every downstream number interpretable and comparable.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RAG GOAL CARDS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red/amber/green read is the fastest way to see which sector goals are on track versus at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a sector page (e.g. Tourism) showing Sector Definition + Sector Snapshot KPI cards.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SECTORS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Live vs. coming-soon — and why sector-level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WHAT'S LIVE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Two sectors are fully built and data-backed: Life Sciences and Tourism. Life Sciences is the more elaborate build (extra Key Indicators, more charts, configurable panels).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WHAT'S COMING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Eight sectors (aerospace, agriculture, AI &amp; quantum, construction innovation, maritime, trade &amp; logistics, and two reserved slots) are placeholder stubs — each names its expected data workbook.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SHOW PLACEHOLDERS AT ALL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They set expectations and make the roadmap visible; a "Coming Soon" card is more honest than a hidden or empty page.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SECTOR-LEVEL, NOT SUBSECTOR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deliberate decision: charts report at the sector level (subsector detail summarized inline) to simplify the UX and avoid per-subsector chart sprawl.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Sectors hub grid (show the live sectors vs. the "Coming Soon" cards).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2011680" cy="82296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1" i="0">
                <a:solidFill>
                  <a:srgbClr val="FCBA19"/>
                </a:solidFill>
                <a:latin typeface="Segoe UI"/>
              </a:rPr>
              <a:t>APPENDIX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Reference — metrics, sources &amp; rationale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C8D6E8"/>
                </a:solidFill>
                <a:latin typeface="Segoe UI"/>
              </a:rPr>
              <a:t>The glossary and the data model behind every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Metric glossary — the money &amp; jobs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 i="1">
                <a:solidFill>
                  <a:srgbClr val="5F7388"/>
                </a:solidFill>
                <a:latin typeface="Segoe UI"/>
              </a:rPr>
              <a:t>Every headline figure traces to one of these source fields. Read this to know exactly what each number counts.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556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955279"/>
              </a:tblGrid>
              <a:tr h="4876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Metric / Term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it means &amp; why it's here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Jobs Created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New jobs attributable to tracked records (funding programs, major projects, infrastructure). A core outcome metric.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Jobs Protected / Saved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Existing at-risk jobs retained. Shown alongside — but distinct from — created jobs to avoid over-claiming.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Investment Attracted ($M)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Realized / reported investment mobilized. This is delivered money, not a plan.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Total Commitment Value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Committed funding for a program or major project. A commitment, not necessarily spent — kept separate from realized figures.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Total Estimated Value ($M)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Infrastructure capital value — the dashboard's closest equivalent to "CAPEX" (there is no literal CAPEX field).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Estimated Value ($M)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Investment-promotion pipeline value — an estimate of prospective, not realized, investment.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Revenue to BC GDP / Gov ($M)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Reported economic contribution: GDP impact and government revenue from a tracked record.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Amount ($M)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A transaction-level figure — money actually moving, used to gauge delivery against commitments.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The Look West data model — how records are tagged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 i="1">
                <a:solidFill>
                  <a:srgbClr val="5F7388"/>
                </a:solidFill>
                <a:latin typeface="Segoe UI"/>
              </a:rPr>
              <a:t>Every Look West record carries these dimensions; they power all filters and charts without adding new metrics.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556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955279"/>
              </a:tblGrid>
              <a:tr h="4876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Metric / Term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it means &amp; why it's here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Stream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The top-level Look West workstream a record belongs to.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Pillar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One of four: Strengthening Our Workforce · Delivering Major Projects Faster · Diversifying Markets · Growing Targeted Sectors.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Theme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Finer classification (e.g. Skills Training, Investment Attraction, Permitting &amp; Authorizations, Supply Chain, Partnerships).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Sector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The industry the record affects (ties records to the Sector dashboards).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Region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The B.C. region — drives the maps and regional charts.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Lead Ministry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The accountable ministry — the owner of the record.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Announcement ID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The evidence link — connects a record to the announcement that substantiates it.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Achievement / Status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The progress state, rolled up into the Monitor's status and the goal RAG ratings.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C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Data sources &amp; refresh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200" b="0" i="1">
                <a:solidFill>
                  <a:srgbClr val="5F7388"/>
                </a:solidFill>
                <a:latin typeface="Segoe UI"/>
              </a:rPr>
              <a:t>Different screens refresh differently by design — live where data streams, static where it's published periodically.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8800"/>
          <a:ext cx="111556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955279"/>
              </a:tblGrid>
              <a:tr h="7315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Metric / Term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it means &amp; why it's here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BC Economy Snapshot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LIVE — Statistics Canada Web Data Service (fixed vector IDs); "Update Data" fetches latest, via a local proxy on localhost.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Sector Snapshots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LIVE — StatCan GDP, business counts, and employment by NAICS, per sector.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Look West (Strategy, Trackers, Goals)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CSV — the Look West data files in /data (with a /data/look_west_strategy fallback), merged into integrated views.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Projects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CSV + GeoJSON — Major Projects, Major Project Tracker, and a B.C. boundary for the map.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3366"/>
                          </a:solidFill>
                          <a:latin typeface="Segoe UI"/>
                        </a:rPr>
                        <a:t>Caching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  <a:latin typeface="Segoe UI"/>
                        </a:rPr>
                        <a:t>Look West Strategy caches to browser localStorage: a cached view renders instantly, then a live refresh runs in the background. Display toggles are local-only and never write back to source data.</a:t>
                      </a:r>
                    </a:p>
                  </a:txBody>
                  <a:tcPr>
                    <a:solidFill>
                      <a:srgbClr val="E9F1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Special note — "Action Plans" and "CAPEX"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WHERE "ACTION PLANS" LIVES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Action Plans are a first-class dataset on the Strategy Monitor — a "Data coverage" count card and a "Data Inventory" section (ID · Title · Stream · Status · Released). They represent the strategy's published action-plan commitments. They are not a separate tab in the tracker workspace.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WHERE "CAPEX" LIVES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There is no field literally named CAPEX. Capital is expressed as: Infrastructure "Total Estimated Value ($M)" (the closest CAPEX equivalent), funding/major-project "Total Commitment Value", and investment-promotion "Estimated Value ($M)".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THE NAMING CHOICE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underlying records capture commitments and estimates, not audited capital expenditure. Using the source's own terms keeps every figure faithful to what was actually reported — and clearly separable from realized spend (transaction Amounts, Investment Attracted).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HOW TO TALK ABOUT 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When someone asks for "CAPEX," point to Infrastructure Total Estimated Value; when they ask about "action plans," point to the Strategy Monitor coverage card and its Data-Inventory section.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Data-Inventory "Action Plans" section expanded, and the Infrastructure "Total Estimated Value" KPI.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2011680" cy="82296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400" b="1" i="0">
                <a:solidFill>
                  <a:srgbClr val="FCBA19"/>
                </a:solidFill>
                <a:latin typeface="Segoe UI"/>
              </a:rPr>
              <a:t>APPENDIX E</a:t>
            </a:r>
          </a:p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Run it on your laptop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500" b="0" i="0">
                <a:solidFill>
                  <a:srgbClr val="C8D6E8"/>
                </a:solidFill>
                <a:latin typeface="Segoe UI"/>
              </a:rPr>
              <a:t>From nothing installed to the dashboard open in your browser — about 15 minutes on Windows.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E · SETUP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Before you start — what you'll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GOAL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Get the dashboard running locally in your browser. You'll install two free tools, download the project, and double-click one file.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YOU NEED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Windows laptop and about 15 minutes.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Permission to install software (Python and Git).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modern browser (Edge or Chrome).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A LOCAL SERVER (NOT JUST DOUBLE-CLICKING A PAGE)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pages load their data over HTTP; opening an HTML file directly (file://) is blocked by the browser. The included launcher starts a tiny local web server for you — nothing to configure.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SHORT VERSION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Install Python → install Git → clone the repo → double-click BC_Dashboard_App.bat. The next slides walk through each 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project's GitHub page (github.com/bcgov/BCLS).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E · STEP 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Install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DO THIS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Go to python.org/downloads and download Python 3 for Windows.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Run the installer.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On the FIRST screen, tick "Add python.exe to PATH" — this matters.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Click "Install Now" and finish.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VERIFY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Open Command Prompt (Start ▸ type "cmd" ▸ Enter) and run:  python --version  — you should see "Python 3.x.x".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dashboard's local server (scripts/serve.py) is a small Python program, so Python must be installed and on your PATH.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IF IT SAYS 'NOT FOUND'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You probably missed the "Add to PATH" checkbox — re-run the installer and tick it (the launcher can also prompt you for the python.exe path).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Python installer's first screen with "Add python.exe to PATH" ticked.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E · STEP 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Install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DO THIS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Go to git-scm.com/download/win and download Git for Windows.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Run the installer and accept the defaults (keep clicking Next).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VERIFY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 a NEW Command Prompt window run:  git --version  — you should see a version number.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Git downloads ("clones") the project from GitHub and makes pulling updates easy later.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NO-GIT ALTERNATIVE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You can skip Git: on the GitHub page click the green "Code" button ▸ "Download ZIP", then unzip. You'll get the same project folder.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git-scm.com download page (or GitHub's Code ▸ Download ZIP menu).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E · STEP 3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Get the code (clone the repo)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DO THIS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Open Command Prompt in the folder where you want the project, e.g.:  cd %USERPROFILE%\Documents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Clone the repository:  git clone https://github.com/bcgov/BCLS.git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This creates a "BCLS" folder containing the whole dashboard.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ZIP ALTERNATIVE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If you downloaded the ZIP instead, just unzip it somewhere convenient — you end up with the same BCLS folder.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UPDATING LATER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To get the latest version any time, open Command Prompt in the BCLS folder and run:  git pull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Everything the dashboard needs — pages, data, and the launcher — lives inside this one folder.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Command Prompt showing a completed "git clone" of BCLS.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E · STEP 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Launch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DO THIS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Open the BCLS folder in File Explorer.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Double-click  BC_Dashboard_App.bat.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WHAT IT DOES FOR YOU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Finds your Python automatically.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Offers to install the one required package (openpyxl) if it's missing — answer Y.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Starts the local server on port 8080.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buChar char="•"/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Opens your browser to the dashboard.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KEEP THIS WINDOW OPEN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 black command window stays open — that IS the running server. Leave it open while you use the dashboard; closing it stops the server.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WHY A .BAT LAUNCHER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It wraps all the steps so you never type commands — one double-click runs everything.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BC_Dashboard_App window showing "Hub URL: http://localhost:8080/dashboard/hub/html/dashboard.html".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E · STEP 5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Use it — and stop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IT'S OPEN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Your browser lands on the BC Look West Monitor Dashboard. Move between pages from the top bar: Snapshot, Strategy Monitor, Goals Tracker, and More.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IF THE BROWSER DIDN'T OPEN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Go to:  http://localhost:8080/dashboard/hub/html/dashboard.html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STOP THE DASHBOARD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Close the black command window (or press Ctrl+C inside it). The dashboard stops; your files are untouched.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RUN IT AGAIN LATER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Just double-click BC_Dashboard_App.bat again — no need to reinstall anything.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running dashboard in the browser, top navigation visible.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APPENDIX E · HELP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126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"PYTHON WAS NOT FOUND"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Re-run the Python installer and tick "Add python.exe to PATH," or use the launcher's prompt to paste the full path to python.exe.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A PAGE IS BLANK OR SAYS "START A LOCAL SERVER"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You opened an HTML file directly. Always launch through BC_Dashboard_App.bat, then use the http://localhost:8080/... address.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"PORT 8080 IS IN USE"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launcher closes the old server for you; if a page looks stale, hard-refresh with Ctrl+Shift+R.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LOCKED-DOWN WORK LAPTOP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If you can't install software, ask IT, or use the ZIP download plus a portable Python build. The server needs only Python's standard library plus openpyxl.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371600"/>
            <a:ext cx="4800600" cy="4709160"/>
          </a:xfrm>
          <a:prstGeom prst="roundRect">
            <a:avLst/>
          </a:prstGeom>
          <a:solidFill>
            <a:srgbClr val="F3F6FA"/>
          </a:solidFill>
          <a:ln w="19050">
            <a:solidFill>
              <a:srgbClr val="5F738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spcAft>
                <a:spcPts val="600"/>
              </a:spcAft>
            </a:pPr>
            <a:r>
              <a:rPr sz="1300" b="1" i="0">
                <a:solidFill>
                  <a:srgbClr val="003366"/>
                </a:solidFill>
                <a:latin typeface="Segoe UI"/>
              </a:rPr>
              <a:t>▢  SCREENSHOT PLACEHOLDER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sz="1050" b="0" i="1">
                <a:solidFill>
                  <a:srgbClr val="5F7388"/>
                </a:solidFill>
                <a:latin typeface="Segoe UI"/>
              </a:rPr>
              <a:t>Capture: the launcher's "Python not found" prompt, or a browser hard-refresh — optional.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CBA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100"/>
              </a:spcAft>
            </a:pPr>
            <a:r>
              <a:rPr sz="1100" b="1" i="0">
                <a:solidFill>
                  <a:srgbClr val="FCBA19"/>
                </a:solidFill>
                <a:latin typeface="Segoe UI"/>
              </a:rPr>
              <a:t>CLOSE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FFFFFF"/>
                </a:solidFill>
                <a:latin typeface="Segoe UI"/>
              </a:rPr>
              <a:t>Keeping this guide accurate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THIS IS LIVING DOCUMENTATION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dashboard evolves — trackers get activated, sectors come online, metrics are refined. Update the relevant slide when a screen changes so the WHY stays true to the WHAT.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SCREENSHOTS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Replace each dashed placeholder with a capture of the described view. Keep captures current after major UI changes.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THE THROUGH-LINE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Whatever changes, the philosophy holds: lead with outcomes, keep every number evidence-linked, separate committed from realized, and be honest about gaps.</a:t>
            </a:r>
          </a:p>
          <a:p>
            <a:pPr algn="l">
              <a:spcBef>
                <a:spcPts val="1000"/>
              </a:spcBef>
              <a:spcAft>
                <a:spcPts val="200"/>
              </a:spcAft>
            </a:pPr>
            <a:r>
              <a:rPr sz="1250" b="1" i="0">
                <a:solidFill>
                  <a:srgbClr val="003366"/>
                </a:solidFill>
                <a:latin typeface="Segoe UI"/>
              </a:rPr>
              <a:t>WHERE THE TRUTH LIVES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The strategy's pillars and metric logic are defined in the Look West Strategy dashboard code and look_west_schema.csv — the authoritative source if a definition is ever in doubt.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BC Look West Monitor Dashboard — What &amp; Why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850" b="0" i="0">
                <a:solidFill>
                  <a:srgbClr val="5F7388"/>
                </a:solidFill>
                <a:latin typeface="Segoe UI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
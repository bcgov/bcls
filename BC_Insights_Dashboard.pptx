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463040"/>
            <a:ext cx="4754880" cy="4754880"/>
          </a:xfrm>
          <a:prstGeom prst="ellipse">
            <a:avLst/>
          </a:prstGeom>
          <a:solidFill>
            <a:srgbClr val="1565A8">
              <a:alpha val="12000"/>
            </a:srgbClr>
          </a:solidFill>
          <a:ln w="12700">
            <a:solidFill>
              <a:srgbClr val="1565A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4E9FD8">
              <a:alpha val="10000"/>
            </a:srgbClr>
          </a:solidFill>
          <a:ln w="12700">
            <a:solidFill>
              <a:srgbClr val="4E9FD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02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JOBS AND ECONOMIC GROWTH  ·  ECONOMIC STRATEGY BRANCH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Insights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58368" y="2834640"/>
            <a:ext cx="1737360" cy="36576"/>
          </a:xfrm>
          <a:prstGeom prst="rect">
            <a:avLst/>
          </a:prstGeom>
          <a:solidFill>
            <a:srgbClr val="4E9FD8"/>
          </a:solidFill>
          <a:ln w="12700">
            <a:solidFill>
              <a:srgbClr val="4E9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·  April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4015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Data-driven communication tool for internal BC economy monitoring and Look West progress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Hub. Four Strategic Views.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data-driven communication platform that helps our team monitor BC economy signals and assess progress on Look West Strategy in one place.</a:t>
            </a:r>
          </a:p>
        </p:txBody>
      </p:sp>
      <p:sp>
        <p:nvSpPr>
          <p:cNvPr id="6" name="Shape 4"/>
          <p:cNvSpPr/>
          <p:nvPr/>
        </p:nvSpPr>
        <p:spPr>
          <a:xfrm>
            <a:off x="256032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645920"/>
            <a:ext cx="1938528" cy="256032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entry point to all BC economic dashboards — sector cards, live status, and direct navigation.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54580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4580" y="1645920"/>
            <a:ext cx="1938528" cy="2560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2596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82596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BC Economy Snapshot</a:t>
            </a:r>
          </a:p>
        </p:txBody>
      </p:sp>
      <p:sp>
        <p:nvSpPr>
          <p:cNvPr id="15" name="Text 13"/>
          <p:cNvSpPr/>
          <p:nvPr/>
        </p:nvSpPr>
        <p:spPr>
          <a:xfrm>
            <a:off x="2482596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Current view of BC macro conditions, based on the best available and most reliable data.</a:t>
            </a:r>
          </a:p>
        </p:txBody>
      </p:sp>
      <p:sp>
        <p:nvSpPr>
          <p:cNvPr id="16" name="Shape 14"/>
          <p:cNvSpPr/>
          <p:nvPr/>
        </p:nvSpPr>
        <p:spPr>
          <a:xfrm>
            <a:off x="4453128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53128" y="1645920"/>
            <a:ext cx="1938528" cy="256032"/>
          </a:xfrm>
          <a:prstGeom prst="rect">
            <a:avLst/>
          </a:prstGeom>
          <a:solidFill>
            <a:srgbClr val="4E9FD8"/>
          </a:solidFill>
          <a:ln w="12700">
            <a:solidFill>
              <a:srgbClr val="4E9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81144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BC Trade Analysis</a:t>
            </a:r>
          </a:p>
        </p:txBody>
      </p:sp>
      <p:sp>
        <p:nvSpPr>
          <p:cNvPr id="20" name="Text 18"/>
          <p:cNvSpPr/>
          <p:nvPr/>
        </p:nvSpPr>
        <p:spPr>
          <a:xfrm>
            <a:off x="4581144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Trade composition and interprovincial/international trends to support market-focused analysis.</a:t>
            </a:r>
          </a:p>
        </p:txBody>
      </p:sp>
      <p:sp>
        <p:nvSpPr>
          <p:cNvPr id="21" name="Shape 19"/>
          <p:cNvSpPr/>
          <p:nvPr/>
        </p:nvSpPr>
        <p:spPr>
          <a:xfrm>
            <a:off x="6551676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1676" y="1645920"/>
            <a:ext cx="1938528" cy="25603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9692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79692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Look West Strategy</a:t>
            </a:r>
          </a:p>
        </p:txBody>
      </p:sp>
      <p:sp>
        <p:nvSpPr>
          <p:cNvPr id="25" name="Text 23"/>
          <p:cNvSpPr/>
          <p:nvPr/>
        </p:nvSpPr>
        <p:spPr>
          <a:xfrm>
            <a:off x="6679692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Three key sections: Strategy Overview, 8 Sectors, and Major Projects (under development).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BC Economy Snapshot</a:t>
            </a:r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focused view of British Columbia economic conditions, using indicators selected for data availability and reliability.</a:t>
            </a:r>
          </a:p>
        </p:txBody>
      </p:sp>
      <p:sp>
        <p:nvSpPr>
          <p:cNvPr id="6" name="Shape 4"/>
          <p:cNvSpPr/>
          <p:nvPr/>
        </p:nvSpPr>
        <p:spPr>
          <a:xfrm>
            <a:off x="256032" y="182880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Core Indicators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GDP, employment, labour force, unemployment, inflation, and related sector signals.</a:t>
            </a:r>
          </a:p>
        </p:txBody>
      </p:sp>
      <p:sp>
        <p:nvSpPr>
          <p:cNvPr id="9" name="Shape 7"/>
          <p:cNvSpPr/>
          <p:nvPr/>
        </p:nvSpPr>
        <p:spPr>
          <a:xfrm>
            <a:off x="256032" y="246888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force, unemployment rate, sector breakdown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10896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Trade &amp; Industry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Trade flows and industry-level context to support integrated economic assessment.</a:t>
            </a:r>
          </a:p>
        </p:txBody>
      </p:sp>
      <p:sp>
        <p:nvSpPr>
          <p:cNvPr id="15" name="Shape 13"/>
          <p:cNvSpPr/>
          <p:nvPr/>
        </p:nvSpPr>
        <p:spPr>
          <a:xfrm>
            <a:off x="256032" y="374904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 Confidence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Indicators are prioritized based on availability, timeliness, and reliability.</a:t>
            </a:r>
          </a:p>
        </p:txBody>
      </p:sp>
      <p:sp>
        <p:nvSpPr>
          <p:cNvPr id="18" name="Shape 16"/>
          <p:cNvSpPr/>
          <p:nvPr/>
        </p:nvSpPr>
        <p:spPr>
          <a:xfrm>
            <a:off x="4617720" y="1078992"/>
            <a:ext cx="4251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78992"/>
            <a:ext cx="64008" cy="9601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170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Current</a:t>
            </a:r>
          </a:p>
        </p:txBody>
      </p:sp>
      <p:sp>
        <p:nvSpPr>
          <p:cNvPr id="21" name="Text 19"/>
          <p:cNvSpPr/>
          <p:nvPr/>
        </p:nvSpPr>
        <p:spPr>
          <a:xfrm>
            <a:off x="4818888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BC Signals</a:t>
            </a:r>
          </a:p>
        </p:txBody>
      </p:sp>
      <p:sp>
        <p:nvSpPr>
          <p:cNvPr id="22" name="Text 20"/>
          <p:cNvSpPr/>
          <p:nvPr/>
        </p:nvSpPr>
        <p:spPr>
          <a:xfrm>
            <a:off x="4818888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Economy indicators in one standardized view</a:t>
            </a:r>
          </a:p>
        </p:txBody>
      </p:sp>
      <p:sp>
        <p:nvSpPr>
          <p:cNvPr id="23" name="Shape 21"/>
          <p:cNvSpPr/>
          <p:nvPr/>
        </p:nvSpPr>
        <p:spPr>
          <a:xfrm>
            <a:off x="4617720" y="2295144"/>
            <a:ext cx="4251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295144"/>
            <a:ext cx="64008" cy="9601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3865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API + LAN</a:t>
            </a:r>
          </a:p>
        </p:txBody>
      </p:sp>
      <p:sp>
        <p:nvSpPr>
          <p:cNvPr id="26" name="Text 24"/>
          <p:cNvSpPr/>
          <p:nvPr/>
        </p:nvSpPr>
        <p:spPr>
          <a:xfrm>
            <a:off x="4818888" y="28803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 Sources</a:t>
            </a:r>
          </a:p>
        </p:txBody>
      </p:sp>
      <p:sp>
        <p:nvSpPr>
          <p:cNvPr id="27" name="Text 25"/>
          <p:cNvSpPr/>
          <p:nvPr/>
        </p:nvSpPr>
        <p:spPr>
          <a:xfrm>
            <a:off x="4818888" y="30723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Statistics Canada APIs and internal LAN-managed files</a:t>
            </a:r>
          </a:p>
        </p:txBody>
      </p:sp>
      <p:sp>
        <p:nvSpPr>
          <p:cNvPr id="28" name="Shape 26"/>
          <p:cNvSpPr/>
          <p:nvPr/>
        </p:nvSpPr>
        <p:spPr>
          <a:xfrm>
            <a:off x="4617720" y="3511296"/>
            <a:ext cx="4251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511296"/>
            <a:ext cx="64008" cy="9601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6027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Standardized</a:t>
            </a:r>
          </a:p>
        </p:txBody>
      </p:sp>
      <p:sp>
        <p:nvSpPr>
          <p:cNvPr id="31" name="Text 29"/>
          <p:cNvSpPr/>
          <p:nvPr/>
        </p:nvSpPr>
        <p:spPr>
          <a:xfrm>
            <a:off x="4818888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Communication</a:t>
            </a:r>
          </a:p>
        </p:txBody>
      </p:sp>
      <p:sp>
        <p:nvSpPr>
          <p:cNvPr id="32" name="Text 30"/>
          <p:cNvSpPr/>
          <p:nvPr/>
        </p:nvSpPr>
        <p:spPr>
          <a:xfrm>
            <a:off x="4818888" y="42885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Consistent KPI and chart structure for internal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LOOK WEST</a:t>
            </a:r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Look West Strategy</a:t>
            </a:r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Organized into 3 key sections for internal monitoring and communication of progress.</a:t>
            </a:r>
          </a:p>
        </p:txBody>
      </p:sp>
      <p:sp>
        <p:nvSpPr>
          <p:cNvPr id="6" name="Shape 4"/>
          <p:cNvSpPr/>
          <p:nvPr/>
        </p:nvSpPr>
        <p:spPr>
          <a:xfrm>
            <a:off x="256032" y="1591056"/>
            <a:ext cx="272491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91056"/>
            <a:ext cx="2724912" cy="256032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92024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1. Strategy Overview</a:t>
            </a:r>
          </a:p>
        </p:txBody>
      </p:sp>
      <p:sp>
        <p:nvSpPr>
          <p:cNvPr id="9" name="Text 7"/>
          <p:cNvSpPr/>
          <p:nvPr/>
        </p:nvSpPr>
        <p:spPr>
          <a:xfrm>
            <a:off x="393192" y="23957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High-level monitoring of strategic progress, signals, and overall direction.</a:t>
            </a:r>
          </a:p>
        </p:txBody>
      </p:sp>
      <p:sp>
        <p:nvSpPr>
          <p:cNvPr id="10" name="Shape 8"/>
          <p:cNvSpPr/>
          <p:nvPr/>
        </p:nvSpPr>
        <p:spPr>
          <a:xfrm>
            <a:off x="393192" y="3913632"/>
            <a:ext cx="2450592" cy="274320"/>
          </a:xfrm>
          <a:prstGeom prst="rect">
            <a:avLst/>
          </a:prstGeom>
          <a:solidFill>
            <a:srgbClr val="0B4F8A">
              <a:alpha val="12000"/>
            </a:srgbClr>
          </a:solidFill>
          <a:ln w="9525">
            <a:solidFill>
              <a:srgbClr val="0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3913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Progress summary · Key signals</a:t>
            </a:r>
          </a:p>
        </p:txBody>
      </p:sp>
      <p:sp>
        <p:nvSpPr>
          <p:cNvPr id="12" name="Shape 10"/>
          <p:cNvSpPr/>
          <p:nvPr/>
        </p:nvSpPr>
        <p:spPr>
          <a:xfrm>
            <a:off x="3154680" y="1591056"/>
            <a:ext cx="272491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91056"/>
            <a:ext cx="2724912" cy="25603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2. Sectors (8)</a:t>
            </a:r>
          </a:p>
        </p:txBody>
      </p:sp>
      <p:sp>
        <p:nvSpPr>
          <p:cNvPr id="15" name="Text 13"/>
          <p:cNvSpPr/>
          <p:nvPr/>
        </p:nvSpPr>
        <p:spPr>
          <a:xfrm>
            <a:off x="3291840" y="23957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Eight sector dashboards with consistent structure and sector-specific data files.</a:t>
            </a:r>
          </a:p>
        </p:txBody>
      </p:sp>
      <p:sp>
        <p:nvSpPr>
          <p:cNvPr id="16" name="Shape 14"/>
          <p:cNvSpPr/>
          <p:nvPr/>
        </p:nvSpPr>
        <p:spPr>
          <a:xfrm>
            <a:off x="3291840" y="3913632"/>
            <a:ext cx="2450592" cy="274320"/>
          </a:xfrm>
          <a:prstGeom prst="rect">
            <a:avLst/>
          </a:prstGeom>
          <a:solidFill>
            <a:srgbClr val="1F7A4D">
              <a:alpha val="12000"/>
            </a:srgbClr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913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Life Sciences · Aerospace · Agriculture · AI &amp; Quantum · Construction · Maritime · Tourism · Trade &amp; Logistics</a:t>
            </a:r>
          </a:p>
        </p:txBody>
      </p:sp>
      <p:sp>
        <p:nvSpPr>
          <p:cNvPr id="18" name="Shape 16"/>
          <p:cNvSpPr/>
          <p:nvPr/>
        </p:nvSpPr>
        <p:spPr>
          <a:xfrm>
            <a:off x="6053328" y="1591056"/>
            <a:ext cx="272491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591056"/>
            <a:ext cx="2724912" cy="2560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92024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3. Major Projects</a:t>
            </a:r>
          </a:p>
        </p:txBody>
      </p:sp>
      <p:sp>
        <p:nvSpPr>
          <p:cNvPr id="21" name="Text 19"/>
          <p:cNvSpPr/>
          <p:nvPr/>
        </p:nvSpPr>
        <p:spPr>
          <a:xfrm>
            <a:off x="6190488" y="23957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Major projects section is under development and planned for integration in this dashboard.</a:t>
            </a:r>
          </a:p>
        </p:txBody>
      </p:sp>
      <p:sp>
        <p:nvSpPr>
          <p:cNvPr id="22" name="Shape 20"/>
          <p:cNvSpPr/>
          <p:nvPr/>
        </p:nvSpPr>
        <p:spPr>
          <a:xfrm>
            <a:off x="6190488" y="3913632"/>
            <a:ext cx="2450592" cy="274320"/>
          </a:xfrm>
          <a:prstGeom prst="rect">
            <a:avLst/>
          </a:prstGeom>
          <a:solidFill>
            <a:srgbClr val="1565A8">
              <a:alpha val="12000"/>
            </a:srgbClr>
          </a:solidFill>
          <a:ln w="9525">
            <a:solidFill>
              <a:srgbClr val="156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3913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Status: Under development</a:t>
            </a:r>
          </a:p>
        </p:txBody>
      </p:sp>
      <p:sp>
        <p:nvSpPr>
          <p:cNvPr id="24" name="Text 22"/>
          <p:cNvSpPr/>
          <p:nvPr/>
        </p:nvSpPr>
        <p:spPr>
          <a:xfrm>
            <a:off x="256032" y="46085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Designed to align project monitoring with the same Look West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DASHBOARD PAGES 3 – 10</a:t>
            </a:r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Sectors</a:t>
            </a:r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</a:t>
            </a:r>
          </a:p>
        </p:txBody>
      </p:sp>
      <p:sp>
        <p:nvSpPr>
          <p:cNvPr id="6" name="Text 4"/>
          <p:cNvSpPr/>
          <p:nvPr/>
        </p:nvSpPr>
        <p:spPr>
          <a:xfrm>
            <a:off x="1261872" y="11704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Sector Dashboards</a:t>
            </a:r>
          </a:p>
        </p:txBody>
      </p:sp>
      <p:sp>
        <p:nvSpPr>
          <p:cNvPr id="7" name="Text 5"/>
          <p:cNvSpPr/>
          <p:nvPr/>
        </p:nvSpPr>
        <p:spPr>
          <a:xfrm>
            <a:off x="1261872" y="15727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Each sector has its own dashboard and sector-specific Excel data file.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236829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86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Standard structure across sectors</a:t>
            </a:r>
          </a:p>
        </p:txBody>
      </p:sp>
      <p:sp>
        <p:nvSpPr>
          <p:cNvPr id="10" name="Shape 8"/>
          <p:cNvSpPr/>
          <p:nvPr/>
        </p:nvSpPr>
        <p:spPr>
          <a:xfrm>
            <a:off x="256032" y="277977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KPI cards and sector trends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319125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108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Initiatives, evidence, and risks</a:t>
            </a:r>
          </a:p>
        </p:txBody>
      </p:sp>
      <p:sp>
        <p:nvSpPr>
          <p:cNvPr id="14" name="Shape 12"/>
          <p:cNvSpPr/>
          <p:nvPr/>
        </p:nvSpPr>
        <p:spPr>
          <a:xfrm>
            <a:off x="256032" y="360273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520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 maintained in sector Excel files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401421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31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Integrated into BC Insights Dashboard</a:t>
            </a:r>
          </a:p>
        </p:txBody>
      </p:sp>
      <p:sp>
        <p:nvSpPr>
          <p:cNvPr id="18" name="Shape 16"/>
          <p:cNvSpPr/>
          <p:nvPr/>
        </p:nvSpPr>
        <p:spPr>
          <a:xfrm>
            <a:off x="4736592" y="1143000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143000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11430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1143000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1143000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1430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1709928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709928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7099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57416" y="1709928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57416" y="1709928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099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Quantum Computing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2276856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2276856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57416" y="2276856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57416" y="2276856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2843784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2843784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28437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57416" y="2843784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57416" y="2843784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28437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&amp; Logistics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36592" y="3410712"/>
            <a:ext cx="3895344" cy="402336"/>
          </a:xfrm>
          <a:prstGeom prst="rect">
            <a:avLst/>
          </a:prstGeom>
          <a:solidFill>
            <a:srgbClr val="EEF3F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41071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 ARCHITECTURE</a:t>
            </a:r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 data is stored in the dashboard itself.</a:t>
            </a:r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Data is either pulled online through APIs or read from files in the standard internal LAN system.</a:t>
            </a:r>
          </a:p>
        </p:txBody>
      </p:sp>
      <p:sp>
        <p:nvSpPr>
          <p:cNvPr id="6" name="Shape 4"/>
          <p:cNvSpPr/>
          <p:nvPr/>
        </p:nvSpPr>
        <p:spPr>
          <a:xfrm>
            <a:off x="256032" y="1645920"/>
            <a:ext cx="27249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84048" y="2432304"/>
            <a:ext cx="2468880" cy="27432"/>
          </a:xfrm>
          <a:prstGeom prst="rect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542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Online Data (APIs)</a:t>
            </a:r>
          </a:p>
        </p:txBody>
      </p:sp>
      <p:sp>
        <p:nvSpPr>
          <p:cNvPr id="10" name="Text 8"/>
          <p:cNvSpPr/>
          <p:nvPr/>
        </p:nvSpPr>
        <p:spPr>
          <a:xfrm>
            <a:off x="384048" y="29992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Where reliable and available, indicators are loaded directly through APIs (e.g., Statistics Canada).</a:t>
            </a:r>
          </a:p>
        </p:txBody>
      </p:sp>
      <p:sp>
        <p:nvSpPr>
          <p:cNvPr id="11" name="Text 9"/>
          <p:cNvSpPr/>
          <p:nvPr/>
        </p:nvSpPr>
        <p:spPr>
          <a:xfrm>
            <a:off x="2980944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54680" y="1645920"/>
            <a:ext cx="27249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3282696" y="2432304"/>
            <a:ext cx="2468880" cy="27432"/>
          </a:xfrm>
          <a:prstGeom prst="rect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2542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Internal LAN Data</a:t>
            </a:r>
          </a:p>
        </p:txBody>
      </p:sp>
      <p:sp>
        <p:nvSpPr>
          <p:cNvPr id="16" name="Text 14"/>
          <p:cNvSpPr/>
          <p:nvPr/>
        </p:nvSpPr>
        <p:spPr>
          <a:xfrm>
            <a:off x="3282696" y="29992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Look West, sector, and project datasets are maintained in LAN-based Excel files.</a:t>
            </a:r>
          </a:p>
        </p:txBody>
      </p:sp>
      <p:sp>
        <p:nvSpPr>
          <p:cNvPr id="17" name="Text 15"/>
          <p:cNvSpPr/>
          <p:nvPr/>
        </p:nvSpPr>
        <p:spPr>
          <a:xfrm>
            <a:off x="5879592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53328" y="1645920"/>
            <a:ext cx="27249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6181344" y="2432304"/>
            <a:ext cx="2468880" cy="27432"/>
          </a:xfrm>
          <a:prstGeom prst="rect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542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Communication Layer</a:t>
            </a:r>
          </a:p>
        </p:txBody>
      </p:sp>
      <p:sp>
        <p:nvSpPr>
          <p:cNvPr id="22" name="Text 20"/>
          <p:cNvSpPr/>
          <p:nvPr/>
        </p:nvSpPr>
        <p:spPr>
          <a:xfrm>
            <a:off x="6181344" y="29992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dashboard standardizes, organizes, and structures analysis for effective internal communication.</a:t>
            </a:r>
          </a:p>
        </p:txBody>
      </p:sp>
      <p:sp>
        <p:nvSpPr>
          <p:cNvPr id="23" name="Shape 21"/>
          <p:cNvSpPr/>
          <p:nvPr/>
        </p:nvSpPr>
        <p:spPr>
          <a:xfrm>
            <a:off x="256032" y="4443984"/>
            <a:ext cx="8412480" cy="329184"/>
          </a:xfrm>
          <a:prstGeom prst="rect">
            <a:avLst/>
          </a:prstGeom>
          <a:solidFill>
            <a:srgbClr val="0B4F8A">
              <a:alpha val="8000"/>
            </a:srgbClr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44398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Purpose: monitor BC economy and assess Look West progress with a consistent data storytelling framework.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188720"/>
            <a:ext cx="4389120" cy="4389120"/>
          </a:xfrm>
          <a:prstGeom prst="ellipse">
            <a:avLst/>
          </a:prstGeom>
          <a:solidFill>
            <a:srgbClr val="1565A8">
              <a:alpha val="13000"/>
            </a:srgbClr>
          </a:solidFill>
          <a:ln w="12700">
            <a:solidFill>
              <a:srgbClr val="1565A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560320" cy="2560320"/>
          </a:xfrm>
          <a:prstGeom prst="ellipse">
            <a:avLst/>
          </a:prstGeom>
          <a:solidFill>
            <a:srgbClr val="4E9FD8">
              <a:alpha val="9000"/>
            </a:srgbClr>
          </a:solidFill>
          <a:ln w="12700">
            <a:solidFill>
              <a:srgbClr val="4E9FD8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377440" cy="36576"/>
          </a:xfrm>
          <a:prstGeom prst="rect">
            <a:avLst/>
          </a:prstGeom>
          <a:solidFill>
            <a:srgbClr val="4E9FD8"/>
          </a:solidFill>
          <a:ln w="12700">
            <a:solidFill>
              <a:srgbClr val="4E9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explore the dashboard together.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5486400" cy="1298448"/>
          </a:xfrm>
          <a:prstGeom prst="rect">
            <a:avLst/>
          </a:prstGeom>
          <a:solidFill>
            <a:srgbClr val="0B4F8A">
              <a:alpha val="22000"/>
            </a:srgbClr>
          </a:solidFill>
          <a:ln w="9525">
            <a:solidFill>
              <a:srgbClr val="1565A8"/>
            </a:solidFill>
            <a:prstDash val="solid"/>
          </a:ln>
          <a:effectLst>
            <a:outerShdw sx="100000" sy="100000" kx="0" ky="0" algn="bl" rotWithShape="0" blurRad="203200" dist="38100" dir="8100000">
              <a:srgbClr val="0B274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529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50" kern="0" dirty="0">
                <a:solidFill>
                  <a:srgbClr val="4E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312724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One integrated internal platform to monitor BC economy and track Look West progress using API and LAN-managed data.</a:t>
            </a:r>
          </a:p>
        </p:txBody>
      </p:sp>
      <p:sp>
        <p:nvSpPr>
          <p:cNvPr id="11" name="Shape 9"/>
          <p:cNvSpPr/>
          <p:nvPr/>
        </p:nvSpPr>
        <p:spPr>
          <a:xfrm>
            <a:off x="65836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BC Insights Dashboard</a:t>
            </a:r>
          </a:p>
        </p:txBody>
      </p:sp>
      <p:sp>
        <p:nvSpPr>
          <p:cNvPr id="13" name="Shape 11"/>
          <p:cNvSpPr/>
          <p:nvPr/>
        </p:nvSpPr>
        <p:spPr>
          <a:xfrm>
            <a:off x="267004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BC Economy Snapshot + BC Trade Analysis</a:t>
            </a:r>
          </a:p>
        </p:txBody>
      </p:sp>
      <p:sp>
        <p:nvSpPr>
          <p:cNvPr id="15" name="Shape 13"/>
          <p:cNvSpPr/>
          <p:nvPr/>
        </p:nvSpPr>
        <p:spPr>
          <a:xfrm>
            <a:off x="468172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Look West Strategy: Overview, Sectors, Projects</a:t>
            </a:r>
          </a:p>
        </p:txBody>
      </p:sp>
      <p:sp>
        <p:nvSpPr>
          <p:cNvPr id="17" name="Shape 15"/>
          <p:cNvSpPr/>
          <p:nvPr/>
        </p:nvSpPr>
        <p:spPr>
          <a:xfrm>
            <a:off x="669340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 from APIs + Internal LAN Files</a:t>
            </a:r>
          </a:p>
        </p:txBody>
      </p:sp>
      <p:sp>
        <p:nvSpPr>
          <p:cNvPr id="19" name="Text 17"/>
          <p:cNvSpPr/>
          <p:nvPr/>
        </p:nvSpPr>
        <p:spPr>
          <a:xfrm>
            <a:off x="658368" y="4718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BC Insights Dashboard  ·  Ministry of Jobs and Economic Growth  ·  Economic Strategy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 Insights Dashboard</dc:title>
  <dc:subject>Executive Overview</dc:subject>
  <dc:creator>Ministry of Jobs and Economic Growth</dc:creator>
  <cp:lastModifiedBy>Ministry of Jobs and Economic Growth</cp:lastModifiedBy>
  <cp:revision>1</cp:revision>
  <dcterms:created xsi:type="dcterms:W3CDTF">2026-04-10T16:34:26Z</dcterms:created>
  <dcterms:modified xsi:type="dcterms:W3CDTF">2026-04-10T16:34:26Z</dcterms:modified>
</cp:coreProperties>
</file>